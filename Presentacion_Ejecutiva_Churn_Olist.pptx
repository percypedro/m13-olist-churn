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0" y="0"/>
            <a:ext cx="182880" cy="68580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 i="0">
                <a:solidFill>
                  <a:srgbClr val="FFFFFF"/>
                </a:solidFill>
                <a:latin typeface="Calibri"/>
              </a:rPr>
              <a:t>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19456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PREDICCIÓN
DE CHURN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977639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18F01"/>
                </a:solidFill>
                <a:latin typeface="Calibri"/>
              </a:rPr>
              <a:t>E-Commerce Olist · Brasil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09728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¿Cómo saber quién va
a dejar de comprar
antes de que se vaya?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338328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4F8"/>
                </a:solidFill>
                <a:latin typeface="Calibri"/>
              </a:rPr>
              <a:t>Un modelo de machine learning que identifica
clientes en riesgo con el doble de precisión
que una campaña masiva tradicional.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5120640"/>
            <a:ext cx="2011680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51206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Logistic Regression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5120640"/>
            <a:ext cx="2011680" cy="41148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51206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Lift 2.24x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5120640"/>
            <a:ext cx="2011680" cy="41148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51206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27 variables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6035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  <a:latin typeface="Calibri"/>
              </a:rPr>
              <a:t>Grupo 7  ·  Sprint 4  ·  Percy Fuentes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8F01"/>
                </a:solidFill>
                <a:latin typeface="Calibri"/>
              </a:rPr>
              <a:t>El churn silencioso destruye valor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474720" cy="20116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98.8%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5603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de clientes en Olist
no vuelve a comprar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371600"/>
            <a:ext cx="7589520" cy="2011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417320"/>
            <a:ext cx="7223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Calibri"/>
              </a:rPr>
              <a:t>¿Cuál es el costo real?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🔴  Adquirir un cliente nuevo cuesta 5-7x más que retener uno existente.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🔴  Una campaña masiva de retención contacta a todos, sin discriminar.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🔴  Presupuesto desperdiciado en clientes que no iban a abandonar.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57600"/>
            <a:ext cx="11430000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¿Y si pudieras identificar exactamente quién va a irse
y actuar antes de que ocurra?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120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A8D"/>
                </a:solidFill>
                <a:latin typeface="Calibri"/>
              </a:rPr>
              <a:t>Dataset: </a:t>
            </a:r>
          </a:p>
          <a:p>
            <a:pPr algn="l"/>
            <a:r>
              <a:rPr sz="1100" b="0">
                <a:solidFill>
                  <a:srgbClr val="6B7A8D"/>
                </a:solidFill>
                <a:latin typeface="Calibri"/>
              </a:rPr>
              <a:t>99,441 clientes únicos · Olist Brazil 2016-2018 · Dataset público Kaggle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Un modelo que predice el churn antes de que ocurra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474720" cy="3200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Historial de compras,
entregas y reseñas
de cada cliente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560320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18F01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474720" cy="32004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417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1031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69748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Logistic Regression
27 variables de
comportamiento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560320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18F01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474720" cy="320040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417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1031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ACCIÓN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69748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Lista priorizada
de clientes en riesgo
lista para retención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54880"/>
            <a:ext cx="11247120" cy="914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7731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  <a:latin typeface="Calibri"/>
              </a:rPr>
              <a:t>59.8% → 63%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166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  <a:latin typeface="Calibri"/>
              </a:rPr>
              <a:t>AUC mejora en el tiempo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7731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  <a:latin typeface="Calibri"/>
              </a:rPr>
              <a:t>2.24x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166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  <a:latin typeface="Calibri"/>
              </a:rPr>
              <a:t>Lift vs campaña aleatoria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7731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  <a:latin typeface="Calibri"/>
              </a:rPr>
              <a:t>22.4%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166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  <a:latin typeface="Calibri"/>
              </a:rPr>
              <a:t>Churners capturados
contactando solo 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7731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  <a:latin typeface="Calibri"/>
              </a:rPr>
              <a:t>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5166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  <a:latin typeface="Calibri"/>
              </a:rPr>
              <a:t>Variables de comportamiento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8F01"/>
                </a:solidFill>
                <a:latin typeface="Calibri"/>
              </a:rPr>
              <a:t>El modelo mejora con el tiempo — exactamente lo que necesita producción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651760" cy="164592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19"/>
            <a:ext cx="265176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63%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00630"/>
            <a:ext cx="2651760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AUC Live
(mejor período)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80160"/>
            <a:ext cx="2651760" cy="164592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417319"/>
            <a:ext cx="265176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2.24x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300630"/>
            <a:ext cx="2651760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Lift Decil 1
vs aleatorio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2651760" cy="1645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17319"/>
            <a:ext cx="265176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22.4%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00630"/>
            <a:ext cx="2651760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Churners en
top 10% clientes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280160"/>
            <a:ext cx="2651760" cy="164592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417319"/>
            <a:ext cx="265176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+3 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300630"/>
            <a:ext cx="2651760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AUC mejora
Val→BT→Live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00400"/>
            <a:ext cx="11430000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186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Período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2186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AUC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2186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Lift Decil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186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Gain Decil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2186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Interpretación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657600"/>
            <a:ext cx="11430000" cy="54864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03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Validación (Feb 2018)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703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59.8%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703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2.04x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703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20.4%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703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Línea base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24528"/>
            <a:ext cx="11430000" cy="548640"/>
          </a:xfrm>
          <a:prstGeom prst="rect">
            <a:avLst/>
          </a:prstGeom>
          <a:solidFill>
            <a:srgbClr val="16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2702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BackTest (Mar-Abr 2018)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42702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61.0%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2702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2.18x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2702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21.8%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2702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B374"/>
                </a:solidFill>
                <a:latin typeface="Calibri"/>
              </a:rPr>
              <a:t>↑ Mejora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791456"/>
            <a:ext cx="11430000" cy="548640"/>
          </a:xfrm>
          <a:prstGeom prst="rect">
            <a:avLst/>
          </a:prstGeom>
          <a:solidFill>
            <a:srgbClr val="0D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83717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Live (May 2018)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483717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63.0%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483717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2.24x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83717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22.4%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83717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B374"/>
                </a:solidFill>
                <a:latin typeface="Calibri"/>
              </a:rPr>
              <a:t>↑↑ Mejor período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5760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18F01"/>
                </a:solidFill>
                <a:latin typeface="Calibri"/>
              </a:rPr>
              <a:t>★  Un modelo que mejora con datos nuevos es confiable para producción.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IMPACTO ECONÓMICO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Mismo presupuesto de campaña · Doble de resultado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502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A8D"/>
                </a:solidFill>
                <a:latin typeface="Calibri"/>
              </a:rPr>
              <a:t>Supuestos:  CLV = $300/cliente  ·  Costo contacto = $5  ·  Base = 10,000 clientes  ·  Retención exitosa = 30%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5303520" cy="384048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530352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385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🎲  SIN MODELO — Campaña Aleatoria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68880"/>
            <a:ext cx="5303520" cy="493776"/>
          </a:xfrm>
          <a:prstGeom prst="rect">
            <a:avLst/>
          </a:prstGeom>
          <a:solidFill>
            <a:srgbClr val="FB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496312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Clientes contactados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49631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1A2E"/>
                </a:solidFill>
                <a:latin typeface="Calibri"/>
              </a:rPr>
              <a:t>1,000  (10% aleatorio)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71800"/>
            <a:ext cx="5303520" cy="493776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999232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Churners capturados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99923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1A2E"/>
                </a:solidFill>
                <a:latin typeface="Calibri"/>
              </a:rPr>
              <a:t>12  (tasa base 1.2%)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74720"/>
            <a:ext cx="5303520" cy="493776"/>
          </a:xfrm>
          <a:prstGeom prst="rect">
            <a:avLst/>
          </a:prstGeom>
          <a:solidFill>
            <a:srgbClr val="FB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502152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Clientes retenidos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50215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1A2E"/>
                </a:solidFill>
                <a:latin typeface="Calibri"/>
              </a:rPr>
              <a:t>3  (30% de éxito)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77640"/>
            <a:ext cx="5303520" cy="493776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05072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Costo campaña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00507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1A2E"/>
                </a:solidFill>
                <a:latin typeface="Calibri"/>
              </a:rPr>
              <a:t>$5,000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480560"/>
            <a:ext cx="5303520" cy="493776"/>
          </a:xfrm>
          <a:prstGeom prst="rect">
            <a:avLst/>
          </a:prstGeom>
          <a:solidFill>
            <a:srgbClr val="FB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507992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Valor recuperado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50799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1A2E"/>
                </a:solidFill>
                <a:latin typeface="Calibri"/>
              </a:rPr>
              <a:t>$900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983480"/>
            <a:ext cx="5303520" cy="493776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010912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ROI neto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01091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E74C3C"/>
                </a:solidFill>
                <a:latin typeface="Calibri"/>
              </a:rPr>
              <a:t>-$4,100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920240"/>
            <a:ext cx="5577840" cy="384048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1920240"/>
            <a:ext cx="5577840" cy="50292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193852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🤖  CON MODELO — Campaña Dirigida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2468880"/>
            <a:ext cx="5577840" cy="493776"/>
          </a:xfrm>
          <a:prstGeom prst="rect">
            <a:avLst/>
          </a:prstGeom>
          <a:solidFill>
            <a:srgbClr val="C8E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249631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Clientes contactados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249631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1A2E"/>
                </a:solidFill>
                <a:latin typeface="Calibri"/>
              </a:rPr>
              <a:t>1,000  (top 10% Decil 1)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971800"/>
            <a:ext cx="5577840" cy="493776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299923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Churners capturados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299923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1A2E"/>
                </a:solidFill>
                <a:latin typeface="Calibri"/>
              </a:rPr>
              <a:t>26  (Gain 22.4%)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474720"/>
            <a:ext cx="5577840" cy="493776"/>
          </a:xfrm>
          <a:prstGeom prst="rect">
            <a:avLst/>
          </a:prstGeom>
          <a:solidFill>
            <a:srgbClr val="C8E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350215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Clientes retenidos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350215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1A2E"/>
                </a:solidFill>
                <a:latin typeface="Calibri"/>
              </a:rPr>
              <a:t>7  (30% de éxito)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977640"/>
            <a:ext cx="5577840" cy="493776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400507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Costo campaña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760" y="400507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1A2E"/>
                </a:solidFill>
                <a:latin typeface="Calibri"/>
              </a:rPr>
              <a:t>$5,000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4480560"/>
            <a:ext cx="5577840" cy="493776"/>
          </a:xfrm>
          <a:prstGeom prst="rect">
            <a:avLst/>
          </a:prstGeom>
          <a:solidFill>
            <a:srgbClr val="C8E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450799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Valor recuperado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60" y="450799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1A2E"/>
                </a:solidFill>
                <a:latin typeface="Calibri"/>
              </a:rPr>
              <a:t>$2,100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4983480"/>
            <a:ext cx="5577840" cy="493776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501091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ROI neto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9760" y="501091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B374"/>
                </a:solidFill>
                <a:latin typeface="Calibri"/>
              </a:rPr>
              <a:t>-$2,900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32120" y="347472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18F01"/>
                </a:solidFill>
                <a:latin typeface="Calibri"/>
              </a:rPr>
              <a:t>VS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897880"/>
            <a:ext cx="1143000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5943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18F01"/>
                </a:solidFill>
                <a:latin typeface="Calibri"/>
              </a:rPr>
              <a:t>★  Con el mismo presupuesto, el modelo recupera $1,200 adicionales  —  2.3x más valor que la campaña aleatoria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¿QUIÉN ESTÁ EN RIESGO?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8F01"/>
                </a:solidFill>
                <a:latin typeface="Calibri"/>
              </a:rPr>
              <a:t>El modelo explica por qué — no es una caja negra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48640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🔴  AUMENTAN el riesgo de churn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5486400" cy="713232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90195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6537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Mucho tiempo sin comprar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94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  <a:latin typeface="Calibri"/>
              </a:rPr>
              <a:t>recencia alta → cliente enfriándose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06040"/>
            <a:ext cx="54864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6791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4261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Compra en una sola categoría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71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  <a:latin typeface="Calibri"/>
              </a:rPr>
              <a:t>comprador_unico → sin diversificación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83280"/>
            <a:ext cx="5486400" cy="713232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4564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41985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Entregas lentas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7490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  <a:latin typeface="Calibri"/>
              </a:rPr>
              <a:t>lead_min alto → experiencia negativa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60520"/>
            <a:ext cx="54864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2336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19709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Muchas cuotas de pago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5262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  <a:latin typeface="Calibri"/>
              </a:rPr>
              <a:t>installments_max → estrés financiero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280160"/>
            <a:ext cx="5486400" cy="45720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12984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🟢  REDUCEN el riesgo de churn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828800"/>
            <a:ext cx="5486400" cy="713232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190195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186537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Compras frecuentes recientes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194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  <a:latin typeface="Calibri"/>
              </a:rPr>
              <a:t>ordenes_60d alto → cliente activo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606040"/>
            <a:ext cx="54864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26791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64261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Buenas reseñas de productos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2971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  <a:latin typeface="Calibri"/>
              </a:rPr>
              <a:t>review_max alto → satisfacción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383280"/>
            <a:ext cx="5486400" cy="713232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34564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🗂️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41985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Diversidad de categorías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7490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  <a:latin typeface="Calibri"/>
              </a:rPr>
              <a:t>comprador_unico bajo → explorador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160520"/>
            <a:ext cx="54864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42336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19709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Órdenes múltiples por 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45262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  <a:latin typeface="Calibri"/>
              </a:rPr>
              <a:t>compras_x_mes alto → hábito formado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A8D"/>
                </a:solidFill>
                <a:latin typeface="Calibri"/>
              </a:rPr>
              <a:t>Fuente: SHAP LinearExplainer + coeficientes LogReg sobre 27 variables de comportamiento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METODOLOGÍA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8F01"/>
                </a:solidFill>
                <a:latin typeface="Calibri"/>
              </a:rPr>
              <a:t>Proceso riguroso en 4 etapas — sin tocar BackTest ni Live hasta el final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2743200" cy="3474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DATOS
&amp;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99K clientes · 78 features
Filtro leakage temporal
27 variables finales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160520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5F"/>
                </a:solidFill>
                <a:latin typeface="Calibri"/>
              </a:rPr>
              <a:t>78 → 27
variables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788920"/>
            <a:ext cx="228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18F01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325880"/>
            <a:ext cx="2743200" cy="3474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3716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9202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MODELOS
COMPARADOS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6517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Optuna 100 trials
LogReg · HGB · RF
CV 5-fold estratificado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79" y="4160520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605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86AB"/>
                </a:solidFill>
                <a:latin typeface="Calibri"/>
              </a:rPr>
              <a:t>3 modelos
evaluados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788920"/>
            <a:ext cx="228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18F01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325880"/>
            <a:ext cx="2743200" cy="347472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3716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9202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MODELO
ELEGIDO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6517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LogReg por estabilidad
temporal creciente
Val→BT→Live: ↑↑↑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4160520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1605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B374"/>
                </a:solidFill>
                <a:latin typeface="Calibri"/>
              </a:rPr>
              <a:t>AUC
59%→63%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788920"/>
            <a:ext cx="228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18F01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60" y="1325880"/>
            <a:ext cx="2743200" cy="347472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13716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19202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VALIDACIÓN
INDEPENDIENTE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26517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BackTest + Live
evaluados UNA SOLA VEZ
al final del proceso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55480" y="4160520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55480" y="41605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8F01"/>
                </a:solidFill>
                <a:latin typeface="Calibri"/>
              </a:rPr>
              <a:t>Sin
contaminación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892040"/>
            <a:ext cx="1143000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919472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⚙  Decisiones clave: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4919472"/>
            <a:ext cx="8869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SMOTE para desbalance (1.2% churn)  ·  Penalización overfitting en Optuna  ·  PSI para estabilidad de features  ·  LinearExplainer para SHAP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440680"/>
            <a:ext cx="11430000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468112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18F01"/>
                </a:solidFill>
                <a:latin typeface="Calibri"/>
              </a:rPr>
              <a:t>Principio fundamental: BackTest y Live se evaluaron una única vez, al final, sin influir en ninguna decisión de modelado — garantía de resultados honestos y reproducibles.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ÉTICA Y GOBERNANZA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8F01"/>
                </a:solidFill>
                <a:latin typeface="Calibri"/>
              </a:rPr>
              <a:t>Uso responsable del modelo — cumplimiento LGPD — monitoreo continuo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2743200" cy="3840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TRANSPARENCIA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20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Logistic Regression con coeficientes
interpretables + análisis SHAP.
Cada predicción es explicable.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325880"/>
            <a:ext cx="2743200" cy="3840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🛡️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0116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PRIVACIDAD
(LGPD)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74320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Solo datos de comportamiento
de compra. Sin datos sensibles.
customer_id anonimizado.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25880"/>
            <a:ext cx="2743200" cy="384048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3716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⚖️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SESGOS
IDENTIFICADOS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74320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Sesgo temporal corregido.
Leakage en lead_min eliminado.
Distribución de importancia
equilibrada (máx 11.57%).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1325880"/>
            <a:ext cx="2743200" cy="384048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3716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0116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MONITOREO
&amp; GOBERNANZA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74320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AUC en producción.
PSI de features mensual.
Reentrenamiento si AUC
cae &gt; 5 puntos.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49240"/>
            <a:ext cx="5486400" cy="36576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36752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✅  Usos recomendados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7607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Priorizar campañas de retención  ·  Segmentar por riesgo  ·  Identificar causas operativas del churn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5349240"/>
            <a:ext cx="5486400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536752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❌  Usos NO recomendados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7607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Negar servicios  ·  Decisiones automatizadas sin revisión humana  ·  Compartir scores con terceros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7A8D"/>
                </a:solidFill>
                <a:latin typeface="Calibri"/>
              </a:rPr>
              <a:t>El modelo es apoyo a la decisión, no un sustituto del juicio humano.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DESAFÍOS Y SOLUCIONES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Los 4 problemas más críticos del proyecto — y cómo se resolvieron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57784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🔍  DATA LEAKAGE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2651760" cy="150876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  <a:latin typeface="Calibri"/>
              </a:rPr>
              <a:t>❌ 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lead_min calculado con
fechas de entrega futuras
→ importancia inflada al 20%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737360"/>
            <a:ext cx="1828800" cy="150876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783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B374"/>
                </a:solidFill>
                <a:latin typeface="Calibri"/>
              </a:rPr>
              <a:t>✅ Solución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10312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Filtrar órdenes por corte
temporal T antes de calcular
cualquier feature logística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737360"/>
            <a:ext cx="1097280" cy="150876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0116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20% → 7%
importancia real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280160"/>
            <a:ext cx="557784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3258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🔄  MODELO INESTABLE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737360"/>
            <a:ext cx="2651760" cy="150876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783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  <a:latin typeface="Calibri"/>
              </a:rPr>
              <a:t>❌ Problema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031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HGB ganaba en Val (70%)
pero caía fuerte en Live (55%)
→ −15 puntos de degradación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737360"/>
            <a:ext cx="1828800" cy="150876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1783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B374"/>
                </a:solidFill>
                <a:latin typeface="Calibri"/>
              </a:rPr>
              <a:t>✅ Solución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10312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Cambiar criterio: de "mayor
AUC Val" a "mayor estabilidad
temporal Val→BT→Live"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89920" y="1737360"/>
            <a:ext cx="1097280" cy="150876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0" y="20116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LogReg: 60%→63%
estabilidad creciente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886200"/>
            <a:ext cx="557784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9319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📊  GAIN/LIFT ROTO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343400"/>
            <a:ext cx="2651760" cy="150876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389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  <a:latin typeface="Calibri"/>
              </a:rPr>
              <a:t>❌ Problema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7091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Lift = 1.0 en todos los
deciles — el modelo no
discriminaba nada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4343400"/>
            <a:ext cx="1828800" cy="150876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4389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B374"/>
                </a:solidFill>
                <a:latin typeface="Calibri"/>
              </a:rPr>
              <a:t>✅ Solución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470916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Invertir la clase objetivo:
churn=0 es la minoría (1.2%)
no churn=1 (mayoría 98.8%)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343400"/>
            <a:ext cx="1097280" cy="150876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461772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Lift 1.0 → 2.24x
en Decil 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886200"/>
            <a:ext cx="557784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319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🧠  SHAP FALLABA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343400"/>
            <a:ext cx="2651760" cy="150876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389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  <a:latin typeface="Calibri"/>
              </a:rPr>
              <a:t>❌ Problema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7091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TreeExplainer lanzaba error
al cambiar a LogReg
→ incompatible con árboles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61120" y="4343400"/>
            <a:ext cx="1828800" cy="150876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52560" y="4389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B374"/>
                </a:solidFill>
                <a:latin typeface="Calibri"/>
              </a:rPr>
              <a:t>✅ Solución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470916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Reemplazar por LinearExplainer
nativo para regresión
logística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789920" y="4343400"/>
            <a:ext cx="1097280" cy="150876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89920" y="461772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SHAP funcional
con LogReg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7A8D"/>
                </a:solidFill>
                <a:latin typeface="Calibri"/>
              </a:rPr>
              <a:t>Documentación completa: bitacora_cambios.md — 12 problemas documentados con causa raíz y solución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31752" y="0"/>
            <a:ext cx="457200" cy="68580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457200"/>
            <a:ext cx="5788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FFFF"/>
                </a:solidFill>
                <a:latin typeface="Calibri"/>
              </a:rPr>
              <a:t>🖥️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DEMO EN VIVO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375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18F01"/>
                </a:solidFill>
                <a:latin typeface="Calibri"/>
              </a:rPr>
              <a:t>Dashboard Interactivo de Predicción de Churn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4251960"/>
            <a:ext cx="2743200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42519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Resumen Ejecutivo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4251960"/>
            <a:ext cx="27432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42519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Predicciones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4251960"/>
            <a:ext cx="2743200" cy="50292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42519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SHAP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4937760"/>
            <a:ext cx="2743200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4937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Gain &amp; Lift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4937760"/>
            <a:ext cx="2743200" cy="50292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4937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Pred. Individual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4937760"/>
            <a:ext cx="2743200" cy="50292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937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Impacto Económico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989320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6B7A8D"/>
                </a:solidFill>
                <a:latin typeface="Calibri"/>
              </a:rPr>
              <a:t>streamlit run dashboard_churn.py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8F01"/>
                </a:solidFill>
                <a:latin typeface="Calibri"/>
              </a:rPr>
              <a:t>El modelo está listo para producción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577840" cy="20116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3619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Reentrenamiento mensual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Actualizar el modelo con datos del mes más reciente. Criterio: AUC cae más de 5 puntos o PSI &gt; 0.25.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577840" cy="201168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5087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53619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Monitoreo continuo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488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Tracking del AUC en producción, distribución de features y tasa de churn observada vs predicha.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5577840" cy="201168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7947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822191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Integración con CRM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Exportar la lista de clientes en riesgo directamente al sistema de campañas para acción automatizada.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657600"/>
            <a:ext cx="5577840" cy="2011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7947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822191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Expansión del modelo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4348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Incorporar datos de NPS, interacciones con soporte y variables de categoría para mejorar el AUC.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852160"/>
            <a:ext cx="11274552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89788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A8D"/>
                </a:solidFill>
                <a:latin typeface="Calibri"/>
              </a:rPr>
              <a:t>Grupo 7  ·  Percy Fuentes  ·  Modelo de Churn Olist  ·  Sprint 4  · 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