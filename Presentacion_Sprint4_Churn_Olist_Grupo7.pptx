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MODELO DE PREDICCIÓN
DE CHURN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0C4DE"/>
                </a:solidFill>
                <a:latin typeface="Calibri"/>
              </a:rPr>
              <a:t>Dataset Olist — Brazilian E-Commerce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337560"/>
            <a:ext cx="5029200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18F01"/>
                </a:solidFill>
                <a:latin typeface="Calibri"/>
              </a:rPr>
              <a:t>Sprint 4  |  Grupo 7  |  Percy Fuentes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A8D"/>
                </a:solidFill>
                <a:latin typeface="Calibri"/>
              </a:rPr>
              <a:t>Logistic Regression · SHAP · Optuna · Gain/Lift</a:t>
            </a:r>
          </a:p>
        </p:txBody>
      </p:sp>
      <p:sp>
        <p:nvSpPr>
          <p:cNvPr id="9" name="Rectangle 8"/>
          <p:cNvSpPr/>
          <p:nvPr/>
        </p:nvSpPr>
        <p:spPr>
          <a:xfrm>
            <a:off x="9235440" y="1097280"/>
            <a:ext cx="2651760" cy="1554480"/>
          </a:xfrm>
          <a:prstGeom prst="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0" y="11430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2E86AB"/>
                </a:solidFill>
                <a:latin typeface="Calibri"/>
              </a:rPr>
              <a:t>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0116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  <a:latin typeface="Calibri"/>
              </a:rPr>
              <a:t>features
seleccionadas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2834639"/>
            <a:ext cx="2651760" cy="1554480"/>
          </a:xfrm>
          <a:prstGeom prst="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35440" y="2880359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AB374"/>
                </a:solidFill>
                <a:latin typeface="Calibri"/>
              </a:rPr>
              <a:t>63%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749039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  <a:latin typeface="Calibri"/>
              </a:rPr>
              <a:t>AUC Live
(mejora temporal)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4572000"/>
            <a:ext cx="2651760" cy="1554480"/>
          </a:xfrm>
          <a:prstGeom prst="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40" y="46177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18F01"/>
                </a:solidFill>
                <a:latin typeface="Calibri"/>
              </a:rPr>
              <a:t>2.24x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54864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  <a:latin typeface="Calibri"/>
              </a:rPr>
              <a:t>Lift Decil 1
(Live)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0584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4864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Contexto del Proyecto y Dataset Olist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92808"/>
            <a:ext cx="548640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93852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98424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Sprint 3 vs Sprint 4 — Comparativa de Evolución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96896"/>
            <a:ext cx="54864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642615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Corrección de Data Leakage en lead_min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00984"/>
            <a:ext cx="548640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334670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39242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Selección de Features: 78 → 27 variables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05072"/>
            <a:ext cx="54864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4050791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096511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Modelo Final: Logistic Regression vs HGB vs RF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709160"/>
            <a:ext cx="548640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4754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800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Importancia de Variables y Análisis SHAP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413248"/>
            <a:ext cx="54864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54589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50468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Gain &amp; Lift Table + Evaluación Final y Predicciones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0584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Contexto del Proyecto — Dataset Olist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4864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5F"/>
                </a:solidFill>
                <a:latin typeface="Calibri"/>
              </a:rPr>
              <a:t>¿Qué es Olist?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• Marketplace e-commerce brasileño (2016-2018)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• +100,000 órdenes | 99,441 clientes únicos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• Datos de órdenes, pagos, productos y reseñas</a:t>
            </a:r>
          </a:p>
          <a:p>
            <a:pPr algn="l"/>
            <a:endParaRPr sz="1400" b="0">
              <a:solidFill>
                <a:srgbClr val="1A1A2E"/>
              </a:solidFill>
              <a:latin typeface="Calibri"/>
            </a:endParaRPr>
          </a:p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Objetivo del Modelo: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Predecir qué clientes van a abandonar la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plataforma (churn) en el próximo mes, para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tomar acciones de retención preventivas.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188720"/>
            <a:ext cx="1828800" cy="18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40" y="12801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1.2%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0116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tasa de churn
(clase minoritaria)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188720"/>
            <a:ext cx="1828800" cy="1828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0" y="12801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98.8%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0116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clientes activos
(clase mayoritaria)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0" y="1188720"/>
            <a:ext cx="1828800" cy="1828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0" y="12801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0116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features
originales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3200400"/>
            <a:ext cx="594360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329184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5F"/>
                </a:solidFill>
                <a:latin typeface="Calibri"/>
              </a:rPr>
              <a:t>Splits Temporales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840480"/>
            <a:ext cx="1371600" cy="43891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3886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391363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2016-09 → 2018-01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389120"/>
            <a:ext cx="1371600" cy="43891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4434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446227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2018-02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937760"/>
            <a:ext cx="1371600" cy="438912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4983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BACKTEST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5010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2018-03 / 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5486400"/>
            <a:ext cx="1371600" cy="438912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0" y="5532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55595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2018-05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0584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Sprint 3 vs Sprint 4 — Evolución del Proyecto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252878"/>
              </p:ext>
            </p:extLst>
          </p:nvPr>
        </p:nvGraphicFramePr>
        <p:xfrm>
          <a:off x="274320" y="1097280"/>
          <a:ext cx="1161288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Aspecto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Sprint 3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Sprint 4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Resultado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Modelo 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HistGradientBoosting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↑ Estabilidad temporal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Data Leakage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lead_min con fecha futura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Filtro point-in-time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✓ Corregido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BackTest en selección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Sí (contaminado)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No — solo CV + 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✓ Metodología correcta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Nº Features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dirty="0" smtClean="0">
                          <a:latin typeface="Calibri"/>
                        </a:rPr>
                        <a:t>27</a:t>
                      </a:r>
                      <a:r>
                        <a:rPr sz="1100" dirty="0" smtClean="0">
                          <a:latin typeface="Calibri"/>
                        </a:rPr>
                        <a:t> </a:t>
                      </a:r>
                      <a:r>
                        <a:rPr lang="es-ES" sz="1100" dirty="0" err="1" smtClean="0">
                          <a:latin typeface="Calibri"/>
                        </a:rPr>
                        <a:t>features</a:t>
                      </a:r>
                      <a:endParaRPr sz="1100" dirty="0">
                        <a:latin typeface="Calibri"/>
                      </a:endParaRP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27 (cascada de filtros)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↓ Ruido eliminado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AUC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~55% (caída de 15 pts)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63% (sube progresivamente)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↑ +8 puntos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Importancia max. variable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lead_min &gt; 20%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comprador_unico 11.57%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↑ Distribución equil.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Análisis SHAP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No implementado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LinearExplainer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✓ Nuevo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Gain/Lift Table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No implementado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Lift 2.24x en decil 1 (Live)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✓ Nuevo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Control overfitting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Básico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Optuna + penalización CV-Val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dirty="0">
                          <a:latin typeface="Calibri"/>
                        </a:rPr>
                        <a:t>↑ </a:t>
                      </a:r>
                      <a:r>
                        <a:rPr sz="1100" dirty="0" err="1">
                          <a:latin typeface="Calibri"/>
                        </a:rPr>
                        <a:t>Brecha</a:t>
                      </a:r>
                      <a:r>
                        <a:rPr sz="1100" dirty="0">
                          <a:latin typeface="Calibri"/>
                        </a:rPr>
                        <a:t> 8.1→5.0 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0584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Corrección de Data Leakage — lead_min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4864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48640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❌  ANTES — Sprint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4C3C"/>
                </a:solidFill>
                <a:latin typeface="Calibri"/>
              </a:rPr>
              <a:t>Problema: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lead_min usaba order_delivered_customer_date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→ fecha que podía ser POSTERIOR al corte T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→ El modelo veía información del FUTURO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→ Importancia artificialmente inflada al ~20%</a:t>
            </a:r>
          </a:p>
          <a:p>
            <a:pPr algn="l"/>
            <a:endParaRPr sz="1300" b="0">
              <a:solidFill>
                <a:srgbClr val="1A1A2E"/>
              </a:solidFill>
              <a:latin typeface="Calibri"/>
            </a:endParaRPr>
          </a:p>
          <a:p>
            <a:pPr algn="l"/>
            <a:r>
              <a:rPr sz="1300" b="1">
                <a:solidFill>
                  <a:srgbClr val="1A1A2E"/>
                </a:solidFill>
                <a:latin typeface="Calibri"/>
              </a:rPr>
              <a:t>Consecuencia: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Variables futuras filtran al modelo durante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entrenamiento — resultados NO reproducibles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en producción.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937760"/>
            <a:ext cx="5303520" cy="77724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  <a:latin typeface="Calibri"/>
              </a:rPr>
              <a:t>lead_min = 20% importancia (IRREAL)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188720"/>
            <a:ext cx="585216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35040" y="1188720"/>
            <a:ext cx="5852160" cy="50292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261872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✓  DESPUÉS — Sprint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82880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B374"/>
                </a:solidFill>
                <a:latin typeface="Calibri"/>
              </a:rPr>
              <a:t>Solución aplicada: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Filtro point-in-time en generar_features: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Solo órdenes entregadas ANTES del corte 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108960"/>
            <a:ext cx="5486400" cy="1234440"/>
          </a:xfrm>
          <a:prstGeom prst="rect">
            <a:avLst/>
          </a:prstGeom>
          <a:solidFill>
            <a:srgbClr val="1E2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h = h[</a:t>
            </a:r>
          </a:p>
          <a:p>
            <a:pPr algn="l"/>
            <a:r>
              <a:rPr sz="1100" b="0">
                <a:solidFill>
                  <a:srgbClr val="7EC8E3"/>
                </a:solidFill>
                <a:latin typeface="Calibri"/>
              </a:rPr>
              <a:t>  h['order_delivered_customer_date'].isna() |</a:t>
            </a:r>
          </a:p>
          <a:p>
            <a:pPr algn="l"/>
            <a:r>
              <a:rPr sz="1100" b="0">
                <a:solidFill>
                  <a:srgbClr val="7EC8E3"/>
                </a:solidFill>
                <a:latin typeface="Calibri"/>
              </a:rPr>
              <a:t>  (h['order_delivered_customer_date'] &lt;= T)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].copy()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4348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dirty="0"/>
          </a:p>
          <a:p>
            <a:pPr algn="l"/>
            <a:r>
              <a:rPr sz="1300" b="1" dirty="0" err="1">
                <a:solidFill>
                  <a:srgbClr val="1E3A5F"/>
                </a:solidFill>
                <a:latin typeface="Calibri"/>
              </a:rPr>
              <a:t>Impacto</a:t>
            </a:r>
            <a:r>
              <a:rPr sz="1300" b="1" dirty="0">
                <a:solidFill>
                  <a:srgbClr val="1E3A5F"/>
                </a:solidFill>
                <a:latin typeface="Calibri"/>
              </a:rPr>
              <a:t>:</a:t>
            </a:r>
          </a:p>
          <a:p>
            <a:pPr algn="l"/>
            <a:r>
              <a:rPr sz="1300" b="0" dirty="0">
                <a:solidFill>
                  <a:srgbClr val="1A1A2E"/>
                </a:solidFill>
                <a:latin typeface="Calibri"/>
              </a:rPr>
              <a:t>• </a:t>
            </a:r>
            <a:r>
              <a:rPr sz="1300" b="0" dirty="0" err="1">
                <a:solidFill>
                  <a:srgbClr val="1A1A2E"/>
                </a:solidFill>
                <a:latin typeface="Calibri"/>
              </a:rPr>
              <a:t>lead_min</a:t>
            </a:r>
            <a:r>
              <a:rPr sz="1300" b="0" dirty="0">
                <a:solidFill>
                  <a:srgbClr val="1A1A2E"/>
                </a:solidFill>
                <a:latin typeface="Calibri"/>
              </a:rPr>
              <a:t>: 20% → 7% de </a:t>
            </a:r>
            <a:r>
              <a:rPr sz="1300" b="0" dirty="0" err="1">
                <a:solidFill>
                  <a:srgbClr val="1A1A2E"/>
                </a:solidFill>
                <a:latin typeface="Calibri"/>
              </a:rPr>
              <a:t>importancia</a:t>
            </a:r>
            <a:endParaRPr sz="1300" b="0" dirty="0">
              <a:solidFill>
                <a:srgbClr val="1A1A2E"/>
              </a:solidFill>
              <a:latin typeface="Calibri"/>
            </a:endParaRPr>
          </a:p>
          <a:p>
            <a:pPr algn="l"/>
            <a:r>
              <a:rPr sz="1300" b="0" dirty="0">
                <a:solidFill>
                  <a:srgbClr val="1A1A2E"/>
                </a:solidFill>
                <a:latin typeface="Calibri"/>
              </a:rPr>
              <a:t>• </a:t>
            </a:r>
            <a:r>
              <a:rPr sz="1300" b="0" dirty="0" err="1">
                <a:solidFill>
                  <a:srgbClr val="1A1A2E"/>
                </a:solidFill>
                <a:latin typeface="Calibri"/>
              </a:rPr>
              <a:t>NaN</a:t>
            </a:r>
            <a:r>
              <a:rPr sz="13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1A1A2E"/>
                </a:solidFill>
                <a:latin typeface="Calibri"/>
              </a:rPr>
              <a:t>introducidos</a:t>
            </a:r>
            <a:r>
              <a:rPr sz="1300" b="0" dirty="0">
                <a:solidFill>
                  <a:srgbClr val="1A1A2E"/>
                </a:solidFill>
                <a:latin typeface="Calibri"/>
              </a:rPr>
              <a:t> → </a:t>
            </a:r>
            <a:r>
              <a:rPr sz="1300" b="0" dirty="0" err="1">
                <a:solidFill>
                  <a:srgbClr val="1A1A2E"/>
                </a:solidFill>
                <a:latin typeface="Calibri"/>
              </a:rPr>
              <a:t>ajuste</a:t>
            </a:r>
            <a:r>
              <a:rPr sz="1300" b="0" dirty="0">
                <a:solidFill>
                  <a:srgbClr val="1A1A2E"/>
                </a:solidFill>
                <a:latin typeface="Calibri"/>
              </a:rPr>
              <a:t> de umbral </a:t>
            </a:r>
            <a:r>
              <a:rPr sz="1300" b="0" dirty="0" err="1">
                <a:solidFill>
                  <a:srgbClr val="1A1A2E"/>
                </a:solidFill>
                <a:latin typeface="Calibri"/>
              </a:rPr>
              <a:t>missings</a:t>
            </a:r>
            <a:endParaRPr sz="1300" b="0" dirty="0">
              <a:solidFill>
                <a:srgbClr val="1A1A2E"/>
              </a:solidFill>
              <a:latin typeface="Calibri"/>
            </a:endParaRPr>
          </a:p>
          <a:p>
            <a:pPr algn="l"/>
            <a:r>
              <a:rPr sz="1300" b="0" dirty="0">
                <a:solidFill>
                  <a:srgbClr val="1A1A2E"/>
                </a:solidFill>
                <a:latin typeface="Calibri"/>
              </a:rPr>
              <a:t>  (10% → 25%) para </a:t>
            </a:r>
            <a:r>
              <a:rPr sz="1300" b="0" dirty="0" err="1">
                <a:solidFill>
                  <a:srgbClr val="1A1A2E"/>
                </a:solidFill>
                <a:latin typeface="Calibri"/>
              </a:rPr>
              <a:t>mantener</a:t>
            </a:r>
            <a:r>
              <a:rPr sz="1300" b="0" dirty="0">
                <a:solidFill>
                  <a:srgbClr val="1A1A2E"/>
                </a:solidFill>
                <a:latin typeface="Calibri"/>
              </a:rPr>
              <a:t> 27 features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5143500"/>
            <a:ext cx="5577840" cy="777240"/>
          </a:xfrm>
          <a:prstGeom prst="rect">
            <a:avLst/>
          </a:prstGeom>
          <a:solidFill>
            <a:srgbClr val="EE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541782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B374"/>
                </a:solidFill>
                <a:latin typeface="Calibri"/>
              </a:rPr>
              <a:t>lead_min = 7% importancia (REAL ✓)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0584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Selección de Features — Cascada de 4 Filtros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148840" y="2377440"/>
            <a:ext cx="576072" cy="3657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48840" y="2331720"/>
            <a:ext cx="576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B7A8D"/>
                </a:solidFill>
                <a:latin typeface="Calibri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783080" cy="2468880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94560"/>
            <a:ext cx="1783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Estado
Inicial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461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AUC: 0.631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07992" y="2377440"/>
            <a:ext cx="576072" cy="3657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2331720"/>
            <a:ext cx="576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B7A8D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24912" y="1188720"/>
            <a:ext cx="1783080" cy="24688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24912" y="128016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912" y="2194560"/>
            <a:ext cx="1783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Univariante
threshold=0.03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4912" y="32461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AUC: 0.621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67144" y="2377440"/>
            <a:ext cx="576072" cy="3657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67144" y="2331720"/>
            <a:ext cx="576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B7A8D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84064" y="1188720"/>
            <a:ext cx="1783080" cy="2468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84064" y="128016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4064" y="2194560"/>
            <a:ext cx="1783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Correlación
threshold=0.96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4064" y="32461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AUC: 0.626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26296" y="2377440"/>
            <a:ext cx="576072" cy="3657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26296" y="2331720"/>
            <a:ext cx="576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B7A8D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43216" y="1188720"/>
            <a:ext cx="1783080" cy="246888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43216" y="128016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6" y="2194560"/>
            <a:ext cx="1783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Missings
≤ 25%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3216" y="32461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AUC: 0.616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02368" y="1188720"/>
            <a:ext cx="1783080" cy="246888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02368" y="128016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27✓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02368" y="2194560"/>
            <a:ext cx="1783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PSI
≤ 0.25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02368" y="32461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AUC: 0.616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886200"/>
            <a:ext cx="116128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397763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Calibri"/>
              </a:rPr>
              <a:t>Notas metodológicas: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434840"/>
            <a:ext cx="111556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El umbral de missings se elevó de 10% a 25%: la corrección del leakage introduce NaN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legítimos (órdenes en tránsito al corte T). Los NaN son ausencia real de información.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PSI no eliminó ninguna variable → las 27 features son estables temporalmente (Train vs Val).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AUC Val se mantiene en 0.616 tras los filtros: no se pierde capacidad predictiva.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0584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Desbalanceo de Clases + Optimización con Optuna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4864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5F"/>
                </a:solidFill>
                <a:latin typeface="Calibri"/>
              </a:rPr>
              <a:t>Desbalanceo de Clases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120640" cy="6400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churn=0 (churners):    1,604 → 1.2%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5120640" cy="640080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63347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churn=1 (activos):  132,733 → 98.8%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375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Solución: SMOTE + RandomUnderSampler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94760"/>
            <a:ext cx="5120640" cy="64008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86791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churn=0 (churners):  26,546 → 37.5%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480560"/>
            <a:ext cx="5120640" cy="6400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55371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churn=1 (activos):   44,243 → 62.5%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578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Calibri"/>
              </a:rPr>
              <a:t>ImbPipeline: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SMOTE(sampling_strategy=0.2)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+ RandomUnderSampler(sampling_strategy=0.6)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188720"/>
            <a:ext cx="585216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5F"/>
                </a:solidFill>
                <a:latin typeface="Calibri"/>
              </a:rPr>
              <a:t>Optuna — Optimización Bayesiana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828800"/>
            <a:ext cx="5486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1A1A2E"/>
                </a:solidFill>
                <a:latin typeface="Calibri"/>
              </a:rPr>
              <a:t>• </a:t>
            </a:r>
            <a:r>
              <a:rPr lang="es-ES" sz="1400" b="0" dirty="0" smtClean="0">
                <a:solidFill>
                  <a:srgbClr val="1A1A2E"/>
                </a:solidFill>
                <a:latin typeface="Calibri"/>
              </a:rPr>
              <a:t>50</a:t>
            </a:r>
            <a:r>
              <a:rPr sz="1400" b="0" dirty="0" smtClean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trials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por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modelo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(HGB,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LogReg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, RF)</a:t>
            </a:r>
          </a:p>
          <a:p>
            <a:pPr algn="l"/>
            <a:r>
              <a:rPr sz="1400" b="0" dirty="0">
                <a:solidFill>
                  <a:srgbClr val="1A1A2E"/>
                </a:solidFill>
                <a:latin typeface="Calibri"/>
              </a:rPr>
              <a:t>• CV 5-fold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estratificado</a:t>
            </a:r>
            <a:endParaRPr sz="1400" b="0" dirty="0">
              <a:solidFill>
                <a:srgbClr val="1A1A2E"/>
              </a:solidFill>
              <a:latin typeface="Calibri"/>
            </a:endParaRPr>
          </a:p>
          <a:p>
            <a:pPr algn="l"/>
            <a:r>
              <a:rPr sz="1400" b="0" dirty="0">
                <a:solidFill>
                  <a:srgbClr val="1A1A2E"/>
                </a:solidFill>
                <a:latin typeface="Calibri"/>
              </a:rPr>
              <a:t>•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Penalización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anti-overfitting: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017520"/>
            <a:ext cx="5486400" cy="868680"/>
          </a:xfrm>
          <a:prstGeom prst="rect">
            <a:avLst/>
          </a:prstGeom>
          <a:solidFill>
            <a:srgbClr val="1E2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3090672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EC8E3"/>
                </a:solidFill>
                <a:latin typeface="Calibri"/>
              </a:rPr>
              <a:t>penalizacion = max(0, auc_cv - auc_val - 0.03)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return auc_cv - penalizacion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977639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Calibri"/>
              </a:rPr>
              <a:t>Resultado: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Brecha CV-Val: 8.1 pts → 5.0 pts</a:t>
            </a:r>
          </a:p>
          <a:p>
            <a:pPr algn="l"/>
            <a:endParaRPr sz="1300" b="0">
              <a:solidFill>
                <a:srgbClr val="1A1A2E"/>
              </a:solidFill>
              <a:latin typeface="Calibri"/>
            </a:endParaRP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Early stopping desactivado en Optuna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(velocidad: 30s/trial → 3s/trial)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• Activado solo en modelo final HGB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  para comparativa de estabilidad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0584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Comparativa de Modelos — HGB vs LogReg vs RF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612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AUC CV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AUC Val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AUC BackTest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AUC Live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Tendencia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HGB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alibri"/>
                        </a:rPr>
                        <a:t>0.771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alibri"/>
                        </a:rPr>
                        <a:t>0.703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alibri"/>
                        </a:rPr>
                        <a:t>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alibri"/>
                        </a:rPr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alibri"/>
                        </a:rPr>
                        <a:t>↓ −15 pts (inestable)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LogReg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alibri"/>
                        </a:rPr>
                        <a:t>0.579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alibri"/>
                        </a:rPr>
                        <a:t>0.598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alibri"/>
                        </a:rPr>
                        <a:t>0.61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alibri"/>
                        </a:rPr>
                        <a:t>0.63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alibri"/>
                        </a:rPr>
                        <a:t>↑ +3 pts (ELEGIDO ✓)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latin typeface="Calibri"/>
                        </a:rPr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alibri"/>
                        </a:rPr>
                        <a:t>0.592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alibri"/>
                        </a:rPr>
                        <a:t>0.578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alibri"/>
                        </a:rPr>
                        <a:t>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alibri"/>
                        </a:rPr>
                        <a:t>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alibri"/>
                        </a:rPr>
                        <a:t>→ Estable pero bajo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3749039"/>
            <a:ext cx="3749039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37947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¿Por qué no HGB?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51960"/>
            <a:ext cx="3749039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434340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Tiene el mejor AUC Val (0.703) pero cae de 0.70 a 0.55 en Live — una degradación de 15 puntos. Indica sobreajuste a patrones del período de entrenamiento (Olist 2016-2017).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3749039"/>
            <a:ext cx="3749039" cy="45720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51959" y="37947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¿Por qué LogReg?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4251960"/>
            <a:ext cx="3749039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399" y="434340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AUC Val menor (0.598) pero MEJORA progresivamente: Val→BackTest→Live = 0.60→0.61→0.63. Los patrones aprendidos generalizan bien al futuro. En producción, la estabilidad es más valiosa que el pico en Val.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749039"/>
            <a:ext cx="3749039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37947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¿Por qué no RF?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4251960"/>
            <a:ext cx="3749039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434340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Estable (0.58→0.59→0.59) pero con el AUC más bajo de los tres. No captura suficiente señal predictiva. LogReg ofrece mejor balance entre performance y estabilidad temporal.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Calibri"/>
              </a:rPr>
              <a:t>¿Por qué
Logistic Regression?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0C4DE"/>
                </a:solidFill>
                <a:latin typeface="Calibri"/>
              </a:rPr>
              <a:t>Estabilidad temporal &gt; AUC puntual en validación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0584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Estabilidad Temporal — Val → BackTest →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73152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5F"/>
                </a:solidFill>
                <a:latin typeface="Calibri"/>
              </a:rPr>
              <a:t>AUC por Período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436315"/>
            <a:ext cx="594360" cy="259872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116275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74C3C"/>
                </a:solidFill>
                <a:latin typeface="Calibri"/>
              </a:rPr>
              <a:t>0.703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4882896"/>
            <a:ext cx="594360" cy="1152143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0" y="4562856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74C3C"/>
                </a:solidFill>
                <a:latin typeface="Calibri"/>
              </a:rPr>
              <a:t>0.59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5394959"/>
            <a:ext cx="594360" cy="6400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80" y="5074919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74C3C"/>
                </a:solidFill>
                <a:latin typeface="Calibri"/>
              </a:rPr>
              <a:t>0.55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98448" y="4780483"/>
            <a:ext cx="594360" cy="1254556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98448" y="4460443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B374"/>
                </a:solidFill>
                <a:latin typeface="Calibri"/>
              </a:rPr>
              <a:t>0.598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84448" y="4626864"/>
            <a:ext cx="594360" cy="1408175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84448" y="430682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B374"/>
                </a:solidFill>
                <a:latin typeface="Calibri"/>
              </a:rPr>
              <a:t>0.61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70448" y="4370831"/>
            <a:ext cx="594360" cy="1664208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70448" y="4050791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B374"/>
                </a:solidFill>
                <a:latin typeface="Calibri"/>
              </a:rPr>
              <a:t>0.63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56815" y="5036515"/>
            <a:ext cx="594360" cy="99852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56815" y="4716475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86AB"/>
                </a:solidFill>
                <a:latin typeface="Calibri"/>
              </a:rPr>
              <a:t>0.578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42816" y="4882896"/>
            <a:ext cx="594360" cy="1152143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42816" y="4562856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86AB"/>
                </a:solidFill>
                <a:latin typeface="Calibri"/>
              </a:rPr>
              <a:t>0.59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28816" y="4882896"/>
            <a:ext cx="594360" cy="1152143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28816" y="4562856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86AB"/>
                </a:solidFill>
                <a:latin typeface="Calibri"/>
              </a:rPr>
              <a:t>0.59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08075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  <a:latin typeface="Calibri"/>
              </a:rPr>
              <a:t>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608075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  <a:latin typeface="Calibri"/>
              </a:rPr>
              <a:t>BackTest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608075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  <a:latin typeface="Calibri"/>
              </a:rPr>
              <a:t>Live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6537960"/>
            <a:ext cx="274320" cy="228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34440" y="6492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HGB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6537960"/>
            <a:ext cx="274320" cy="22860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37560" y="6492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LogReg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0640" y="6537960"/>
            <a:ext cx="274320" cy="2286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40679" y="6492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RF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1188720"/>
            <a:ext cx="4114800" cy="5120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55279" y="12801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Conclusión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1828800"/>
            <a:ext cx="37490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4C3C"/>
                </a:solidFill>
                <a:latin typeface="Calibri"/>
              </a:rPr>
              <a:t>HGB:</a:t>
            </a:r>
          </a:p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0.70 → 0.59 → 0.55</a:t>
            </a:r>
          </a:p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(caída de 15 puntos)</a:t>
            </a:r>
          </a:p>
          <a:p>
            <a:pPr algn="l"/>
            <a:endParaRPr sz="1300" b="0">
              <a:solidFill>
                <a:srgbClr val="B0C4DE"/>
              </a:solidFill>
              <a:latin typeface="Calibri"/>
            </a:endParaRPr>
          </a:p>
          <a:p>
            <a:pPr algn="l"/>
            <a:r>
              <a:rPr sz="1300" b="1">
                <a:solidFill>
                  <a:srgbClr val="2E86AB"/>
                </a:solidFill>
                <a:latin typeface="Calibri"/>
              </a:rPr>
              <a:t>RF:</a:t>
            </a:r>
          </a:p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0.58 → 0.59 → 0.59</a:t>
            </a:r>
          </a:p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(estable pero bajo)</a:t>
            </a:r>
          </a:p>
          <a:p>
            <a:pPr algn="l"/>
            <a:endParaRPr sz="1300" b="0">
              <a:solidFill>
                <a:srgbClr val="B0C4DE"/>
              </a:solidFill>
              <a:latin typeface="Calibri"/>
            </a:endParaRPr>
          </a:p>
          <a:p>
            <a:pPr algn="l"/>
            <a:r>
              <a:rPr sz="1300" b="1">
                <a:solidFill>
                  <a:srgbClr val="1AB374"/>
                </a:solidFill>
                <a:latin typeface="Calibri"/>
              </a:rPr>
              <a:t>LogReg ✓:</a:t>
            </a:r>
          </a:p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0.60 → 0.61 → 0.63</a:t>
            </a:r>
          </a:p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(SUBE en el tiempo)</a:t>
            </a:r>
          </a:p>
          <a:p>
            <a:pPr algn="l"/>
            <a:endParaRPr sz="1300" b="0">
              <a:solidFill>
                <a:srgbClr val="B0C4DE"/>
              </a:solidFill>
              <a:latin typeface="Calibri"/>
            </a:endParaRPr>
          </a:p>
          <a:p>
            <a:pPr algn="l"/>
            <a:r>
              <a:rPr sz="1300" b="1">
                <a:solidFill>
                  <a:srgbClr val="F18F01"/>
                </a:solidFill>
                <a:latin typeface="Calibri"/>
              </a:rPr>
              <a:t>Decisión:</a:t>
            </a:r>
          </a:p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Se sacrifica AUC Val</a:t>
            </a:r>
          </a:p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a cambio de robustez</a:t>
            </a:r>
          </a:p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temporal real.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0584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Importancia de Variables — Logistic Regression (coeficientes)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7053072" cy="4572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252728"/>
            <a:ext cx="7098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comprador_unico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18832" y="126187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11.57%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3232" y="12801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A8D"/>
                </a:solidFill>
                <a:latin typeface="Calibri"/>
              </a:rPr>
              <a:t>Diversidad de vendedores del cliente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37360"/>
            <a:ext cx="4718304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1801368"/>
            <a:ext cx="4764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installments_max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4064" y="181051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7.74%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98464" y="1828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A8D"/>
                </a:solidFill>
                <a:latin typeface="Calibri"/>
              </a:rPr>
              <a:t>Número máximo de cuotas usadas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86000"/>
            <a:ext cx="463296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2350008"/>
            <a:ext cx="467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ordenes_60d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8720" y="235915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7.6%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13120" y="23774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A8D"/>
                </a:solidFill>
                <a:latin typeface="Calibri"/>
              </a:rPr>
              <a:t>Órdenes en los últimos 60 días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34639"/>
            <a:ext cx="454152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2898647"/>
            <a:ext cx="458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recencia_rel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7280" y="2907791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7.45%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21680" y="292607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A8D"/>
                </a:solidFill>
                <a:latin typeface="Calibri"/>
              </a:rPr>
              <a:t>Recencia relativa al período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383280"/>
            <a:ext cx="4395216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3447288"/>
            <a:ext cx="4440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lead_min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60976" y="345643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7.21%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75376" y="34747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A8D"/>
                </a:solidFill>
                <a:latin typeface="Calibri"/>
              </a:rPr>
              <a:t>Tiempo mínimo de entrega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931920"/>
            <a:ext cx="4181856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" y="3995928"/>
            <a:ext cx="42275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review_max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7616" y="400507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6.86%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2015" y="402335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A8D"/>
                </a:solidFill>
                <a:latin typeface="Calibri"/>
              </a:rPr>
              <a:t>Calificación máxima de reseñas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480559"/>
            <a:ext cx="4163568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4320" y="4544568"/>
            <a:ext cx="4209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n_items_sum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9328" y="455371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6.83%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3728" y="457199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A8D"/>
                </a:solidFill>
                <a:latin typeface="Calibri"/>
              </a:rPr>
              <a:t>Total de ítems comprados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029200"/>
            <a:ext cx="3761232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4320" y="5093208"/>
            <a:ext cx="3806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recencia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26992" y="510235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6.17%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41392" y="51206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A8D"/>
                </a:solidFill>
                <a:latin typeface="Calibri"/>
              </a:rPr>
              <a:t>Días sin comprar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577840"/>
            <a:ext cx="2566416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74320" y="5641848"/>
            <a:ext cx="2612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monto_sum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32176" y="565099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4.21%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6576" y="566927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A8D"/>
                </a:solidFill>
                <a:latin typeface="Calibri"/>
              </a:rPr>
              <a:t>Gasto total histórico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6126479"/>
            <a:ext cx="2395728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4320" y="6190488"/>
            <a:ext cx="2441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cat_div_ratio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61488" y="6199631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3.93%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75887" y="621791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A8D"/>
                </a:solidFill>
                <a:latin typeface="Calibri"/>
              </a:rPr>
              <a:t>Ratio de diversidad de categorías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69680" y="1188720"/>
            <a:ext cx="3017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961120" y="12801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3A5F"/>
                </a:solidFill>
                <a:latin typeface="Calibri"/>
              </a:rPr>
              <a:t>✓  Distribución
Equilibrada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228600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Ninguna variable</a:t>
            </a:r>
          </a:p>
          <a:p>
            <a:pPr algn="l"/>
            <a:r>
              <a:rPr sz="1200" b="1">
                <a:solidFill>
                  <a:srgbClr val="1AB374"/>
                </a:solidFill>
                <a:latin typeface="Calibri"/>
              </a:rPr>
              <a:t>supera el 12%</a:t>
            </a:r>
          </a:p>
          <a:p>
            <a:pPr algn="l"/>
            <a:endParaRPr sz="1200" b="1">
              <a:solidFill>
                <a:srgbClr val="1AB374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Top 5 acumulan</a:t>
            </a:r>
          </a:p>
          <a:p>
            <a:pPr algn="l"/>
            <a:r>
              <a:rPr sz="1200" b="1">
                <a:solidFill>
                  <a:srgbClr val="2E86AB"/>
                </a:solidFill>
                <a:latin typeface="Calibri"/>
              </a:rPr>
              <a:t>solo 41.6%</a:t>
            </a:r>
          </a:p>
          <a:p>
            <a:pPr algn="l"/>
            <a:endParaRPr sz="1200" b="1">
              <a:solidFill>
                <a:srgbClr val="2E86AB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vs Sprint 3 (HGB):</a:t>
            </a:r>
          </a:p>
          <a:p>
            <a:pPr algn="l"/>
            <a:r>
              <a:rPr sz="1200" b="1">
                <a:solidFill>
                  <a:srgbClr val="E74C3C"/>
                </a:solidFill>
                <a:latin typeface="Calibri"/>
              </a:rPr>
              <a:t>lead_min &gt; 20%</a:t>
            </a:r>
          </a:p>
          <a:p>
            <a:pPr algn="l"/>
            <a:r>
              <a:rPr sz="1200" b="1">
                <a:solidFill>
                  <a:srgbClr val="E74C3C"/>
                </a:solidFill>
                <a:latin typeface="Calibri"/>
              </a:rPr>
              <a:t>top 5 &gt; 50%</a:t>
            </a:r>
          </a:p>
          <a:p>
            <a:pPr algn="l"/>
            <a:endParaRPr sz="1200" b="1">
              <a:solidFill>
                <a:srgbClr val="E74C3C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Método: coeficientes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absolutos LogReg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normalizados a %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0584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Análisis SHAP — Interpretabilidad del Modelo LogReg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71323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  <a:latin typeface="Calibri"/>
              </a:rPr>
              <a:t>Dirección de cada variable (LinearExplainer)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828800"/>
          <a:ext cx="71323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Dirección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Interpretación de Negocio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comprador_unico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Calibri"/>
                        </a:rPr>
                        <a:t>↓ REDUCE churn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Más vendedores = mayor fidelidad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installments_max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Calibri"/>
                        </a:rPr>
                        <a:t>↑ SUBE churn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Muchas cuotas = mayor riesgo financiero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recencia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Calibri"/>
                        </a:rPr>
                        <a:t>↑ SUBE churn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Sin comprar mucho tiempo = abandono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lead_min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Calibri"/>
                        </a:rPr>
                        <a:t>↑ SUBE churn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Entregas lentas dañan la experiencia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review_max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Calibri"/>
                        </a:rPr>
                        <a:t>↓ REDUCE churn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Buenas reseñas → cliente satisfecho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compras_x_mes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Calibri"/>
                        </a:rPr>
                        <a:t>↓ REDUCE churn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Alta frecuencia = cliente fiel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monto_sum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Calibri"/>
                        </a:rPr>
                        <a:t>↑ SUBE churn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Alto gasto histórico sin recompra reciente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monto_60d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Calibri"/>
                        </a:rPr>
                        <a:t>↓ REDUCE churn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Gasto reciente activo retiene al cliente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680960" y="1188720"/>
            <a:ext cx="4206240" cy="2377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0" y="126187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Perfil de Riesgo Alto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78308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CC80"/>
                </a:solidFill>
                <a:latin typeface="Calibri"/>
              </a:rPr>
              <a:t>• Usa muchas cuotas</a:t>
            </a:r>
          </a:p>
          <a:p>
            <a:pPr algn="l"/>
            <a:r>
              <a:rPr sz="1300" b="0">
                <a:solidFill>
                  <a:srgbClr val="FFCC80"/>
                </a:solidFill>
                <a:latin typeface="Calibri"/>
              </a:rPr>
              <a:t>• Lleva tiempo sin comprar</a:t>
            </a:r>
          </a:p>
          <a:p>
            <a:pPr algn="l"/>
            <a:r>
              <a:rPr sz="1300" b="0">
                <a:solidFill>
                  <a:srgbClr val="FFCC80"/>
                </a:solidFill>
                <a:latin typeface="Calibri"/>
              </a:rPr>
              <a:t>• Recibe pedidos lentamente</a:t>
            </a:r>
          </a:p>
          <a:p>
            <a:pPr algn="l"/>
            <a:r>
              <a:rPr sz="1300" b="0">
                <a:solidFill>
                  <a:srgbClr val="FFCC80"/>
                </a:solidFill>
                <a:latin typeface="Calibri"/>
              </a:rPr>
              <a:t>• Compra en pocos vendedores</a:t>
            </a:r>
          </a:p>
          <a:p>
            <a:pPr algn="l"/>
            <a:r>
              <a:rPr sz="1300" b="0">
                <a:solidFill>
                  <a:srgbClr val="FFCC80"/>
                </a:solidFill>
                <a:latin typeface="Calibri"/>
              </a:rPr>
              <a:t>• Sin gasto reciente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3749039"/>
            <a:ext cx="4206240" cy="256032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3822191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Perfil de Cliente Fiel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34340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Compra frecuentemente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Gasto reciente activo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Buenas reseñas registradas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Diversidad de vendedores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Entregas rápidas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0584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Gain &amp; Lift Table — Capacidad de Segmentación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749039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2344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Val
2018-02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3749039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874519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A8D"/>
                </a:solidFill>
                <a:latin typeface="Calibri"/>
              </a:rPr>
              <a:t>Lift Decil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402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2E86AB"/>
                </a:solidFill>
                <a:latin typeface="Calibri"/>
              </a:rPr>
              <a:t>2.04x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718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Gain: 20.41%  |  Resp: 50 / 245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3520440"/>
          <a:ext cx="37490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9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96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Decil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Gain%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Lift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20.41%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2.04x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~32%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~1.6x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~64%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~1.3x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1.0x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251959" y="1188720"/>
            <a:ext cx="3749039" cy="54864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51959" y="12344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BackTest
2018-03/04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828800"/>
            <a:ext cx="3749039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399" y="1874519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A8D"/>
                </a:solidFill>
                <a:latin typeface="Calibri"/>
              </a:rPr>
              <a:t>Lift Decil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399" y="22402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18F01"/>
                </a:solidFill>
                <a:latin typeface="Calibri"/>
              </a:rPr>
              <a:t>2.18x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399" y="29718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Gain: 21.76%  |  Resp: 114 / 524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251959" y="3520440"/>
          <a:ext cx="37490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9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96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Decil</a:t>
                      </a:r>
                    </a:p>
                  </a:txBody>
                  <a:tcPr>
                    <a:solidFill>
                      <a:srgbClr val="F18F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Gain%</a:t>
                      </a:r>
                    </a:p>
                  </a:txBody>
                  <a:tcPr>
                    <a:solidFill>
                      <a:srgbClr val="F18F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Lift</a:t>
                      </a:r>
                    </a:p>
                  </a:txBody>
                  <a:tcPr>
                    <a:solidFill>
                      <a:srgbClr val="F18F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21.76%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2.18x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~32%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~1.6x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~64%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~1.3x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1.0x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8229600" y="1188720"/>
            <a:ext cx="3749039" cy="54864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12344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Live
2018-05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828800"/>
            <a:ext cx="3749039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0" y="1874519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A8D"/>
                </a:solidFill>
                <a:latin typeface="Calibri"/>
              </a:rPr>
              <a:t>Lift Decil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2402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AB374"/>
                </a:solidFill>
                <a:latin typeface="Calibri"/>
              </a:rPr>
              <a:t>2.24x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9718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Gain: 22.38%  |  Resp: 62 / 277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229600" y="3520440"/>
          <a:ext cx="37490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9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96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Decil</a:t>
                      </a:r>
                    </a:p>
                  </a:txBody>
                  <a:tcPr>
                    <a:solidFill>
                      <a:srgbClr val="1AB3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Gain%</a:t>
                      </a:r>
                    </a:p>
                  </a:txBody>
                  <a:tcPr>
                    <a:solidFill>
                      <a:srgbClr val="1AB3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Lift</a:t>
                      </a:r>
                    </a:p>
                  </a:txBody>
                  <a:tcPr>
                    <a:solidFill>
                      <a:srgbClr val="1AB3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22.38%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2.24x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~32%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~1.6x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~64%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~1.3x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1.0x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274320" y="5852160"/>
            <a:ext cx="116128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59253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Interpretación: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5925312"/>
            <a:ext cx="9235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Contactando solo el 10% superior de clientes (Decil 1) se captura más del 20% de todos los churners reales. El Lift mejora en Live (2.24x), consistente con la estabilidad temporal de LogReg.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0584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Evaluación Final del Modelo — Logistic Regression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749039" cy="2286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261872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VAL
2018-02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92024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59.8%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88036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  <a:latin typeface="Calibri"/>
              </a:rPr>
              <a:t>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188720"/>
            <a:ext cx="3749039" cy="22860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51959" y="1261872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BACKTEST
2018-03/04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59" y="192024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61.0%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59" y="288036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  <a:latin typeface="Calibri"/>
              </a:rPr>
              <a:t>↑ +1.2 pts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188720"/>
            <a:ext cx="3749039" cy="228600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1261872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LIVE
2018-05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92024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63.0%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88036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  <a:latin typeface="Calibri"/>
              </a:rPr>
              <a:t>↑ +3.2 pts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657600"/>
            <a:ext cx="1161288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703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Métricas en Live — umbral óptimo por F1 (con desbalance 1.2% churn)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160520"/>
            <a:ext cx="116128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2519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A8D"/>
                </a:solidFill>
                <a:latin typeface="Calibri"/>
              </a:rPr>
              <a:t>Nota: Actualizar con valores reales al ejecutar la celda de métricas del notebook.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5488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Calibri"/>
              </a:rPr>
              <a:t>AUC ROC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0.630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Discriminación global del modelo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75488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Calibri"/>
              </a:rPr>
              <a:t>Precisión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Ver notebook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De predichos churn, cuántos son reales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75488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Calibri"/>
              </a:rPr>
              <a:t>Recall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Ver notebook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De churners reales, cuántos detecta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75488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Calibri"/>
              </a:rPr>
              <a:t>F1-Score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Ver notebook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Balance precisión-recall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6294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A8D"/>
                </a:solidFill>
                <a:latin typeface="Calibri"/>
              </a:rPr>
              <a:t>BackTest y Live evaluados UNA SOLA VEZ al final, sin influir en decisiones de modelado (metodología correcta).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0584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Predicciones — Septiembre 2018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4389120" cy="2926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32588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24,145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C4DE"/>
                </a:solidFill>
                <a:latin typeface="Calibri"/>
              </a:rPr>
              <a:t>clientes activos
predichos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5204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18F01"/>
                </a:solidFill>
                <a:latin typeface="Calibri"/>
              </a:rPr>
              <a:t>Septiembre 2018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977639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B7A8D"/>
                </a:solidFill>
                <a:latin typeface="Calibri"/>
              </a:rPr>
              <a:t>Exportado → predicciones_churn.csv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188720"/>
            <a:ext cx="694944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23444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Top Clientes en Riesgo (prob_churn descendente)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937760" y="1691640"/>
          <a:ext cx="69494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customer_unique_id (truncado)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prob_churn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7f76b3a2c201b6a4ac7d...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Calibri"/>
                        </a:rPr>
                        <a:t>2018-09-01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Calibri"/>
                        </a:rPr>
                        <a:t>0.858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44482ad67ba7af317fd5...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Calibri"/>
                        </a:rPr>
                        <a:t>2018-09-01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Calibri"/>
                        </a:rPr>
                        <a:t>0.858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949a5efc8cd62cbe3888...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Calibri"/>
                        </a:rPr>
                        <a:t>2018-09-01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Calibri"/>
                        </a:rPr>
                        <a:t>0.855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30b94abdcaa5b08d5d78...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Calibri"/>
                        </a:rPr>
                        <a:t>2018-09-01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Calibri"/>
                        </a:rPr>
                        <a:t>0.845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b2ccf88b60413e6fb2b2...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Calibri"/>
                        </a:rPr>
                        <a:t>2018-09-01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Calibri"/>
                        </a:rPr>
                        <a:t>0.844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274320" y="4297680"/>
            <a:ext cx="116128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43891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Calibri"/>
              </a:rPr>
              <a:t>Estrategia de Uso por Negocio: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892040"/>
            <a:ext cx="173736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493775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prob &gt; 0.80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95604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Acción inmediata: contacto personalizado + descuento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440679"/>
            <a:ext cx="1737360" cy="41148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548639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0.60 – 0.80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550468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Campaña preventiva: email + mejora servicio entrega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989320"/>
            <a:ext cx="1737360" cy="411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60350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0.40 – 0.60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60533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Monitoreo: seguimiento próximo 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00584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Principales Correcciones Realizadas en el Sprint 4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66928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64592" cy="1508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  <a:latin typeface="Calibri"/>
              </a:rPr>
              <a:t>Data Leakage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lead_min usaba fechas futuras → filtro point-in-time. Importancia: 20%→7%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66928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164592" cy="150876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  <a:latin typeface="Calibri"/>
              </a:rPr>
              <a:t>BackTest en selección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Eliminado de trials y comparativa. Solo CV+Val para elegir el modelo.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34640"/>
            <a:ext cx="566928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2834640"/>
            <a:ext cx="164592" cy="1508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926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  <a:latin typeface="Calibri"/>
              </a:rPr>
              <a:t>Features Missings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42900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umbral_missings elevado de 10%→25%. PSI confirma 27 features estables.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834640"/>
            <a:ext cx="566928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2834640"/>
            <a:ext cx="164592" cy="150876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2926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  <a:latin typeface="Calibri"/>
              </a:rPr>
              <a:t>Modelo Final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2900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HGB→LogReg por estabilidad temporal. Live: 0.55→0.63 (+8 pts).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480560"/>
            <a:ext cx="566928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4480560"/>
            <a:ext cx="164592" cy="1508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5720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  <a:latin typeface="Calibri"/>
              </a:rPr>
              <a:t>SHAP Explainer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07492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TreeExplainer reemplazado por LinearExplainer (LogReg no es árbol).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480560"/>
            <a:ext cx="566928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4480560"/>
            <a:ext cx="164592" cy="1508760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45720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  <a:latin typeface="Calibri"/>
              </a:rPr>
              <a:t>Gain/Lift 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07492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Clase de interés = churn=0 (1.2%). Lógica invertida. Lift 2.24x en Live.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Conclusiones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02920" cy="777240"/>
          </a:xfrm>
          <a:prstGeom prst="rect">
            <a:avLst/>
          </a:prstGeom>
          <a:solidFill>
            <a:srgbClr val="1A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26187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Modelo Robusto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298448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LogReg seleccionado por estabilidad temporal. AUC: 0.60→0.61→0.63 Val→BT→Live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48840"/>
            <a:ext cx="502920" cy="77724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22199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Features Limpias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258568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27 variables libres de leakage, PSI estables, ninguna supera 12% de importancia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08960"/>
            <a:ext cx="502920" cy="7772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18211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SHAP Interpretable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218688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Gasto reciente vs histórico = señal clave. monto_60d retiene, recencia predice churn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69080"/>
            <a:ext cx="502920" cy="777240"/>
          </a:xfrm>
          <a:prstGeom prst="rect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14223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Lift Validado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4178808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2.24x en Live (decil 1). El 10% superior de clientes captura 22% de churners reales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29200"/>
            <a:ext cx="502920" cy="7772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51023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Predicciones Listas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5138928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24,145 clientes scorados para Septiembre 2018. Listos para campaña de retención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172200"/>
            <a:ext cx="11247120" cy="594360"/>
          </a:xfrm>
          <a:prstGeom prst="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6217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E"/>
                </a:solidFill>
                <a:latin typeface="Calibri"/>
              </a:rPr>
              <a:t>Próximos Pasos: Reentrenamiento mensual con datos frescos  ·  A/B testing de campañas por segmento de riesgo  ·  Monitoreo de drift con PSI continuo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1878</Words>
  <Application>Microsoft Office PowerPoint</Application>
  <PresentationFormat>Personalizado</PresentationFormat>
  <Paragraphs>460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percy fuentes</cp:lastModifiedBy>
  <cp:revision>3</cp:revision>
  <dcterms:created xsi:type="dcterms:W3CDTF">2013-01-27T09:14:16Z</dcterms:created>
  <dcterms:modified xsi:type="dcterms:W3CDTF">2026-06-20T08:47:57Z</dcterms:modified>
  <cp:category/>
</cp:coreProperties>
</file>