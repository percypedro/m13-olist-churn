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9" d="100"/>
          <a:sy n="109" d="100"/>
        </p:scale>
        <p:origin x="636" y="90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16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846320" y="0"/>
            <a:ext cx="182880" cy="6858000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0" i="0">
                <a:solidFill>
                  <a:srgbClr val="FFFFFF"/>
                </a:solidFill>
                <a:latin typeface="Calibri"/>
              </a:rPr>
              <a:t>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194560"/>
            <a:ext cx="4206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PREDICCIÓN
DE CHURN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977639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18F01"/>
                </a:solidFill>
                <a:latin typeface="Calibri"/>
              </a:rPr>
              <a:t>E-Commerce Olist · Brasil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0" y="1097280"/>
            <a:ext cx="6400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¿Cómo saber quién va
a dejar de comprar
antes de que se vaya?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3383280"/>
            <a:ext cx="6400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F4F8"/>
                </a:solidFill>
                <a:latin typeface="Calibri"/>
              </a:rPr>
              <a:t>Un modelo de machine learning que identifica
clientes en riesgo con el doble de precisión
que una campaña masiva tradicional.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0" y="5120640"/>
            <a:ext cx="2011680" cy="41148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03520" y="51206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Logistic Regression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79" y="5120640"/>
            <a:ext cx="2011680" cy="411480"/>
          </a:xfrm>
          <a:prstGeom prst="rect">
            <a:avLst/>
          </a:prstGeom>
          <a:solidFill>
            <a:srgbClr val="1AB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98079" y="51206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Lift 2.24x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92640" y="5120640"/>
            <a:ext cx="2011680" cy="411480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92640" y="51206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27 variables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60350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A8D"/>
                </a:solidFill>
                <a:latin typeface="Calibri"/>
              </a:rPr>
              <a:t>Grupo 7  ·  Sprint 4  ·  Percy Fuentes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EL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18F01"/>
                </a:solidFill>
                <a:latin typeface="Calibri"/>
              </a:rPr>
              <a:t>El churn silencioso destruye valor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3474720" cy="20116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46304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Calibri"/>
              </a:rPr>
              <a:t>98.8%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56032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de clientes en Olist
no vuelve a comprar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371600"/>
            <a:ext cx="7589520" cy="20116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89120" y="1417320"/>
            <a:ext cx="7223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3A5F"/>
                </a:solidFill>
                <a:latin typeface="Calibri"/>
              </a:rPr>
              <a:t>¿Cuál es el costo real?</a:t>
            </a:r>
          </a:p>
          <a:p>
            <a:pPr algn="l"/>
            <a:endParaRPr sz="1300" b="1">
              <a:solidFill>
                <a:srgbClr val="1E3A5F"/>
              </a:solidFill>
              <a:latin typeface="Calibri"/>
            </a:endParaRPr>
          </a:p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🔴  Adquirir un cliente nuevo cuesta 5-7x más que retener uno existente.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🔴  Una campaña masiva de retención contacta a todos, sin discriminar.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🔴  Presupuesto desperdiciado en clientes que no iban a abandonar.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657600"/>
            <a:ext cx="11430000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370332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¿Y si pudieras identificar exactamente quién va a irse
y actuar antes de que ocurra?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51206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B7A8D"/>
                </a:solidFill>
                <a:latin typeface="Calibri"/>
              </a:rPr>
              <a:t>Dataset: </a:t>
            </a:r>
          </a:p>
          <a:p>
            <a:pPr algn="l"/>
            <a:r>
              <a:rPr sz="1100" b="0">
                <a:solidFill>
                  <a:srgbClr val="6B7A8D"/>
                </a:solidFill>
                <a:latin typeface="Calibri"/>
              </a:rPr>
              <a:t>99,441 clientes únicos · Olist Brazil 2016-2018 · Dataset público Kaggle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LA SOLUCIÓN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Un modelo que predice el churn antes de que ocurra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3474720" cy="3200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DATOS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97480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Historial de compras,
entregas y reseñas
de cada cliente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2560320"/>
            <a:ext cx="365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18F01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371600"/>
            <a:ext cx="3474720" cy="32004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97680" y="141732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10312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MODELO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697480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Logistic Regression
27 variables de
comportamiento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2560320"/>
            <a:ext cx="365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18F01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1371600"/>
            <a:ext cx="3474720" cy="3200400"/>
          </a:xfrm>
          <a:prstGeom prst="rect">
            <a:avLst/>
          </a:prstGeom>
          <a:solidFill>
            <a:srgbClr val="1AB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38160" y="141732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10312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ACCIÓN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2697480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Lista priorizada
de clientes en riesgo
lista para retención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754880"/>
            <a:ext cx="11247120" cy="9144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477316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E3A5F"/>
                </a:solidFill>
                <a:latin typeface="Calibri"/>
              </a:rPr>
              <a:t>59.8% → 63%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1663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A8D"/>
                </a:solidFill>
                <a:latin typeface="Calibri"/>
              </a:rPr>
              <a:t>AUC mejora en el tiempo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477316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E3A5F"/>
                </a:solidFill>
                <a:latin typeface="Calibri"/>
              </a:rPr>
              <a:t>2.24x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51663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A8D"/>
                </a:solidFill>
                <a:latin typeface="Calibri"/>
              </a:rPr>
              <a:t>Lift vs campaña aleatoria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477316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E3A5F"/>
                </a:solidFill>
                <a:latin typeface="Calibri"/>
              </a:rPr>
              <a:t>22.4%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51663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A8D"/>
                </a:solidFill>
                <a:latin typeface="Calibri"/>
              </a:rPr>
              <a:t>Churners capturados
contactando solo 10%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477316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E3A5F"/>
                </a:solidFill>
                <a:latin typeface="Calibri"/>
              </a:rPr>
              <a:t>27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51663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A8D"/>
                </a:solidFill>
                <a:latin typeface="Calibri"/>
              </a:rPr>
              <a:t>Variables de comportamiento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RESULTADOS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8F01"/>
                </a:solidFill>
                <a:latin typeface="Calibri"/>
              </a:rPr>
              <a:t>El modelo mejora con el tiempo — exactamente lo que necesita producción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2651760" cy="1645920"/>
          </a:xfrm>
          <a:prstGeom prst="rect">
            <a:avLst/>
          </a:prstGeom>
          <a:solidFill>
            <a:srgbClr val="1AB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417319"/>
            <a:ext cx="2651760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63%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300630"/>
            <a:ext cx="2651760" cy="625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AUC Live
(mejor período)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280160"/>
            <a:ext cx="2651760" cy="1645920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91840" y="1417319"/>
            <a:ext cx="2651760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2.24x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300630"/>
            <a:ext cx="2651760" cy="625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Lift Decil 1
vs aleatorio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280160"/>
            <a:ext cx="2651760" cy="16459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17920" y="1417319"/>
            <a:ext cx="2651760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22.4%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300630"/>
            <a:ext cx="2651760" cy="625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Churners en
top 10% clientes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0" y="1280160"/>
            <a:ext cx="2651760" cy="1645920"/>
          </a:xfrm>
          <a:prstGeom prst="rect">
            <a:avLst/>
          </a:prstGeom>
          <a:solidFill>
            <a:srgbClr val="1AB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0" y="1417319"/>
            <a:ext cx="2651760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+3 pts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2300630"/>
            <a:ext cx="2651760" cy="625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AUC mejora
Val→BT→Live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200400"/>
            <a:ext cx="11430000" cy="41148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321868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Período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321868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AUC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321868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Lift Decil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21868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Gain Decil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321868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Interpretación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657600"/>
            <a:ext cx="11430000" cy="54864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" y="37033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Validación (Feb 2018)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60320" y="37033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59.8%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37033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2.04x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7033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20.4%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37033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Línea base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224528"/>
            <a:ext cx="11430000" cy="548640"/>
          </a:xfrm>
          <a:prstGeom prst="rect">
            <a:avLst/>
          </a:prstGeom>
          <a:solidFill>
            <a:srgbClr val="16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7200" y="427024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BackTest (Mar-Abr 2018)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60320" y="427024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61.0%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0" y="427024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2.18x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27024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21.8%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427024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B374"/>
                </a:solidFill>
                <a:latin typeface="Calibri"/>
              </a:rPr>
              <a:t>↑ Mejora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791456"/>
            <a:ext cx="11430000" cy="548640"/>
          </a:xfrm>
          <a:prstGeom prst="rect">
            <a:avLst/>
          </a:prstGeom>
          <a:solidFill>
            <a:srgbClr val="0D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7200" y="4837176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Live (May 2018)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60320" y="4837176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63.0%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89120" y="4837176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2.24x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4837176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22.4%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0" y="4837176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B374"/>
                </a:solidFill>
                <a:latin typeface="Calibri"/>
              </a:rPr>
              <a:t>↑↑ Mejor período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57607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18F01"/>
                </a:solidFill>
                <a:latin typeface="Calibri"/>
              </a:rPr>
              <a:t>★  Un modelo que mejora con datos nuevos es confiable para producción.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B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IMPACTO ECONÓMICO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Mismo presupuesto de campaña · Doble de resultado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11430000" cy="5029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A8D"/>
                </a:solidFill>
                <a:latin typeface="Calibri"/>
              </a:rPr>
              <a:t>Supuestos:  CLV = $300/cliente  ·  Costo contacto = $5  ·  Base = 10,000 clientes  ·  Retención exitosa = 30%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920240"/>
            <a:ext cx="5303520" cy="3840480"/>
          </a:xfrm>
          <a:prstGeom prst="rect">
            <a:avLst/>
          </a:prstGeom>
          <a:solidFill>
            <a:srgbClr val="FD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" y="1920240"/>
            <a:ext cx="5303520" cy="5029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93852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🎲  SIN MODELO — Campaña Aleatoria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468880"/>
            <a:ext cx="5303520" cy="493776"/>
          </a:xfrm>
          <a:prstGeom prst="rect">
            <a:avLst/>
          </a:prstGeom>
          <a:solidFill>
            <a:srgbClr val="FB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2496312"/>
            <a:ext cx="2926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Clientes contactados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496312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1A1A2E"/>
                </a:solidFill>
                <a:latin typeface="Calibri"/>
              </a:rPr>
              <a:t>1,000  (10% aleatorio)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971800"/>
            <a:ext cx="5303520" cy="493776"/>
          </a:xfrm>
          <a:prstGeom prst="rect">
            <a:avLst/>
          </a:prstGeom>
          <a:solidFill>
            <a:srgbClr val="FD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2999232"/>
            <a:ext cx="2926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Churners capturados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2999232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1A1A2E"/>
                </a:solidFill>
                <a:latin typeface="Calibri"/>
              </a:rPr>
              <a:t>12  (tasa base 1.2%)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474720"/>
            <a:ext cx="5303520" cy="493776"/>
          </a:xfrm>
          <a:prstGeom prst="rect">
            <a:avLst/>
          </a:prstGeom>
          <a:solidFill>
            <a:srgbClr val="FB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3502152"/>
            <a:ext cx="2926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Clientes retenidos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3502152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1A1A2E"/>
                </a:solidFill>
                <a:latin typeface="Calibri"/>
              </a:rPr>
              <a:t>3  (30% de éxito)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977640"/>
            <a:ext cx="5303520" cy="493776"/>
          </a:xfrm>
          <a:prstGeom prst="rect">
            <a:avLst/>
          </a:prstGeom>
          <a:solidFill>
            <a:srgbClr val="FD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" y="4005072"/>
            <a:ext cx="2926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Costo campaña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4005072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1A1A2E"/>
                </a:solidFill>
                <a:latin typeface="Calibri"/>
              </a:rPr>
              <a:t>$5,000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480560"/>
            <a:ext cx="5303520" cy="493776"/>
          </a:xfrm>
          <a:prstGeom prst="rect">
            <a:avLst/>
          </a:prstGeom>
          <a:solidFill>
            <a:srgbClr val="FB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20" y="4507992"/>
            <a:ext cx="2926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Valor recuperado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4507992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1A1A2E"/>
                </a:solidFill>
                <a:latin typeface="Calibri"/>
              </a:rPr>
              <a:t>$900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983480"/>
            <a:ext cx="5303520" cy="493776"/>
          </a:xfrm>
          <a:prstGeom prst="rect">
            <a:avLst/>
          </a:prstGeom>
          <a:solidFill>
            <a:srgbClr val="FD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2920" y="5010912"/>
            <a:ext cx="2926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ROI neto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0" y="5010912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E74C3C"/>
                </a:solidFill>
                <a:latin typeface="Calibri"/>
              </a:rPr>
              <a:t>-$4,100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1920240"/>
            <a:ext cx="5577840" cy="3840480"/>
          </a:xfrm>
          <a:prstGeom prst="rect">
            <a:avLst/>
          </a:prstGeom>
          <a:solidFill>
            <a:srgbClr val="E8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217920" y="1920240"/>
            <a:ext cx="5577840" cy="502920"/>
          </a:xfrm>
          <a:prstGeom prst="rect">
            <a:avLst/>
          </a:prstGeom>
          <a:solidFill>
            <a:srgbClr val="1AB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09360" y="1938528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🤖  CON MODELO — Campaña Dirigida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2468880"/>
            <a:ext cx="5577840" cy="493776"/>
          </a:xfrm>
          <a:prstGeom prst="rect">
            <a:avLst/>
          </a:prstGeom>
          <a:solidFill>
            <a:srgbClr val="C8E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55080" y="2496312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Clientes contactados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09760" y="2496312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1A1A2E"/>
                </a:solidFill>
                <a:latin typeface="Calibri"/>
              </a:rPr>
              <a:t>1,000  (top 10% Decil 1)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2971800"/>
            <a:ext cx="5577840" cy="493776"/>
          </a:xfrm>
          <a:prstGeom prst="rect">
            <a:avLst/>
          </a:prstGeom>
          <a:solidFill>
            <a:srgbClr val="E8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355080" y="2999232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Churners capturados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09760" y="2999232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1A1A2E"/>
                </a:solidFill>
                <a:latin typeface="Calibri"/>
              </a:rPr>
              <a:t>26  (Gain 22.4%)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0" y="3474720"/>
            <a:ext cx="5577840" cy="493776"/>
          </a:xfrm>
          <a:prstGeom prst="rect">
            <a:avLst/>
          </a:prstGeom>
          <a:solidFill>
            <a:srgbClr val="C8E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355080" y="3502152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Clientes retenidos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09760" y="3502152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1A1A2E"/>
                </a:solidFill>
                <a:latin typeface="Calibri"/>
              </a:rPr>
              <a:t>7  (30% de éxito)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7920" y="3977640"/>
            <a:ext cx="5577840" cy="493776"/>
          </a:xfrm>
          <a:prstGeom prst="rect">
            <a:avLst/>
          </a:prstGeom>
          <a:solidFill>
            <a:srgbClr val="E8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355080" y="4005072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Costo campaña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09760" y="4005072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1A1A2E"/>
                </a:solidFill>
                <a:latin typeface="Calibri"/>
              </a:rPr>
              <a:t>$5,000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17920" y="4480560"/>
            <a:ext cx="5577840" cy="493776"/>
          </a:xfrm>
          <a:prstGeom prst="rect">
            <a:avLst/>
          </a:prstGeom>
          <a:solidFill>
            <a:srgbClr val="C8E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355080" y="4507992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Valor recuperado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09760" y="4507992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1A1A2E"/>
                </a:solidFill>
                <a:latin typeface="Calibri"/>
              </a:rPr>
              <a:t>$2,100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17920" y="4983480"/>
            <a:ext cx="5577840" cy="493776"/>
          </a:xfrm>
          <a:prstGeom prst="rect">
            <a:avLst/>
          </a:prstGeom>
          <a:solidFill>
            <a:srgbClr val="E8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355080" y="5010912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ROI neto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09760" y="5010912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AB374"/>
                </a:solidFill>
                <a:latin typeface="Calibri"/>
              </a:rPr>
              <a:t>-$2,900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532120" y="3474720"/>
            <a:ext cx="640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18F01"/>
                </a:solidFill>
                <a:latin typeface="Calibri"/>
              </a:rPr>
              <a:t>VS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5760" y="5897880"/>
            <a:ext cx="11430000" cy="6858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48640" y="594360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18F01"/>
                </a:solidFill>
                <a:latin typeface="Calibri"/>
              </a:rPr>
              <a:t>★  Con el mismo presupuesto, el modelo recupera $1,200 adicionales  —  2.3x más valor que la campaña aleatoria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¿QUIÉN ESTÁ EN RIESGO?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18F01"/>
                </a:solidFill>
                <a:latin typeface="Calibri"/>
              </a:rPr>
              <a:t>El modelo explica por qué — no es una caja negra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5486400" cy="4572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29844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🔴  AUMENTAN el riesgo de churn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828800"/>
            <a:ext cx="5486400" cy="713232"/>
          </a:xfrm>
          <a:prstGeom prst="rect">
            <a:avLst/>
          </a:prstGeom>
          <a:solidFill>
            <a:srgbClr val="FD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190195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865376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Mucho tiempo sin comprar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1945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A8D"/>
                </a:solidFill>
                <a:latin typeface="Calibri"/>
              </a:rPr>
              <a:t>recencia alta → cliente enfriándose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606040"/>
            <a:ext cx="54864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1480" y="267919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642616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Compra en una sola categoría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97180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A8D"/>
                </a:solidFill>
                <a:latin typeface="Calibri"/>
              </a:rPr>
              <a:t>comprador_unico → sin diversificación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383280"/>
            <a:ext cx="5486400" cy="713232"/>
          </a:xfrm>
          <a:prstGeom prst="rect">
            <a:avLst/>
          </a:prstGeom>
          <a:solidFill>
            <a:srgbClr val="FD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11480" y="345643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419856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Entregas lentas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74904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A8D"/>
                </a:solidFill>
                <a:latin typeface="Calibri"/>
              </a:rPr>
              <a:t>lead_min alto → experiencia negativa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160520"/>
            <a:ext cx="54864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1480" y="423367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197096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Muchas cuotas de pago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52628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A8D"/>
                </a:solidFill>
                <a:latin typeface="Calibri"/>
              </a:rPr>
              <a:t>installments_max → estrés financiero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1280160"/>
            <a:ext cx="5486400" cy="457200"/>
          </a:xfrm>
          <a:prstGeom prst="rect">
            <a:avLst/>
          </a:prstGeom>
          <a:solidFill>
            <a:srgbClr val="1AB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46520" y="129844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🟢  REDUCEN el riesgo de churn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1828800"/>
            <a:ext cx="5486400" cy="713232"/>
          </a:xfrm>
          <a:prstGeom prst="rect">
            <a:avLst/>
          </a:prstGeom>
          <a:solidFill>
            <a:srgbClr val="E8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55080" y="190195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1865376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Compras frecuentes recientes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21945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A8D"/>
                </a:solidFill>
                <a:latin typeface="Calibri"/>
              </a:rPr>
              <a:t>ordenes_60d alto → cliente activo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2606040"/>
            <a:ext cx="54864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55080" y="267919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2642616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Buenas reseñas de productos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297180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A8D"/>
                </a:solidFill>
                <a:latin typeface="Calibri"/>
              </a:rPr>
              <a:t>review_max alto → satisfacción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3383280"/>
            <a:ext cx="5486400" cy="713232"/>
          </a:xfrm>
          <a:prstGeom prst="rect">
            <a:avLst/>
          </a:prstGeom>
          <a:solidFill>
            <a:srgbClr val="E8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55080" y="345643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🗂️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3419856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Diversidad de categorías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374904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A8D"/>
                </a:solidFill>
                <a:latin typeface="Calibri"/>
              </a:rPr>
              <a:t>comprador_unico bajo → explorador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09360" y="4160520"/>
            <a:ext cx="54864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355080" y="423367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0" y="4197096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Órdenes múltiples por mes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49440" y="452628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A8D"/>
                </a:solidFill>
                <a:latin typeface="Calibri"/>
              </a:rPr>
              <a:t>compras_x_mes alto → hábito formado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59893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A8D"/>
                </a:solidFill>
                <a:latin typeface="Calibri"/>
              </a:rPr>
              <a:t>Fuente: SHAP LinearExplainer + coeficientes LogReg sobre 27 variables de comportamiento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METODOLOGÍA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8F01"/>
                </a:solidFill>
                <a:latin typeface="Calibri"/>
              </a:rPr>
              <a:t>Proceso riguroso en 4 etapas — sin tocar BackTest ni Live hasta el final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2743200" cy="3474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92024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DATOS
&amp; FEATURES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65176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99K clientes · 78 features
Filtro leakage temporal
27 variables finales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160520"/>
            <a:ext cx="21945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416052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3A5F"/>
                </a:solidFill>
                <a:latin typeface="Calibri"/>
              </a:rPr>
              <a:t>78 → 27
variables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788920"/>
            <a:ext cx="228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18F01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1325880"/>
            <a:ext cx="2743200" cy="34747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37560" y="137160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192024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MODELOS
COMPARADOS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265176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Optuna 100 trials
LogReg · HGB · RF
CV 5-fold estratificado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11879" y="4160520"/>
            <a:ext cx="21945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11879" y="416052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86AB"/>
                </a:solidFill>
                <a:latin typeface="Calibri"/>
              </a:rPr>
              <a:t>3 modelos
evaluados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60" y="2788920"/>
            <a:ext cx="228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18F01"/>
                </a:solidFill>
                <a:latin typeface="Calibr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1325880"/>
            <a:ext cx="2743200" cy="3474720"/>
          </a:xfrm>
          <a:prstGeom prst="rect">
            <a:avLst/>
          </a:prstGeom>
          <a:solidFill>
            <a:srgbClr val="1AB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09360" y="137160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192024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MODELO
ELEGIDO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265176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LogReg por estabilidad
temporal creciente
Val→BT→Live: ↑↑↑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0" y="4160520"/>
            <a:ext cx="21945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83680" y="416052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B374"/>
                </a:solidFill>
                <a:latin typeface="Calibri"/>
              </a:rPr>
              <a:t>AUC
59%→63%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2788920"/>
            <a:ext cx="228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18F01"/>
                </a:solidFill>
                <a:latin typeface="Calibri"/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81160" y="1325880"/>
            <a:ext cx="2743200" cy="3474720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281160" y="137160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81160" y="192024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VALIDACIÓN
INDEPENDIENTE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81160" y="265176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BackTest + Live
evaluados UNA SOLA VEZ
al final del proceso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55480" y="4160520"/>
            <a:ext cx="21945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555480" y="416052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18F01"/>
                </a:solidFill>
                <a:latin typeface="Calibri"/>
              </a:rPr>
              <a:t>Sin
contaminación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4892040"/>
            <a:ext cx="11430000" cy="4572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48640" y="4919472"/>
            <a:ext cx="2286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Calibri"/>
              </a:rPr>
              <a:t>⚙  Decisiones clave: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34640" y="4919472"/>
            <a:ext cx="8869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SMOTE para desbalance (1.2% churn)  ·  Penalización overfitting en Optuna  ·  PSI para estabilidad de features  ·  LinearExplainer para SHAP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5440680"/>
            <a:ext cx="11430000" cy="7772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48640" y="5468112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F18F01"/>
                </a:solidFill>
                <a:latin typeface="Calibri"/>
              </a:rPr>
              <a:t>Principio fundamental: BackTest y Live se evaluaron una única vez, al final, sin influir en ninguna decisión de modelado — garantía de resultados honestos y reproducibles.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ÉTICA Y GOBERNANZA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8F01"/>
                </a:solidFill>
                <a:latin typeface="Calibri"/>
              </a:rPr>
              <a:t>Uso responsable del modelo — cumplimiento LGPD — monitoreo continuo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2743200" cy="384048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  <a:latin typeface="Calibri"/>
              </a:rPr>
              <a:t>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01168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TRANSPARENCIA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743200"/>
            <a:ext cx="2743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Logistic Regression con coeficientes
interpretables + análisis SHAP.
Cada predicción es explicable.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1325880"/>
            <a:ext cx="2743200" cy="3840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37560" y="137160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  <a:latin typeface="Calibri"/>
              </a:rPr>
              <a:t>🛡️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01168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PRIVACIDAD
(LGPD)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743200"/>
            <a:ext cx="2743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Solo datos de comportamiento
de compra. Sin datos sensibles.
customer_id anonimizado.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325880"/>
            <a:ext cx="2743200" cy="3840480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09360" y="137160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  <a:latin typeface="Calibri"/>
              </a:rPr>
              <a:t>⚖️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01168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SESGOS
IDENTIFICADOS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743200"/>
            <a:ext cx="2743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Sesgo temporal corregido.
Leakage en lead_min eliminado.
Distribución de importancia
equilibrada (máx 11.57%).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81160" y="1325880"/>
            <a:ext cx="2743200" cy="3840480"/>
          </a:xfrm>
          <a:prstGeom prst="rect">
            <a:avLst/>
          </a:prstGeom>
          <a:solidFill>
            <a:srgbClr val="1AB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81160" y="137160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201168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MONITOREO
&amp; GOBERNANZA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2743200"/>
            <a:ext cx="2743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AUC en producción.
PSI de features mensual.
Reentrenamiento si AUC
cae &gt; 5 puntos.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349240"/>
            <a:ext cx="5486400" cy="365760"/>
          </a:xfrm>
          <a:prstGeom prst="rect">
            <a:avLst/>
          </a:prstGeom>
          <a:solidFill>
            <a:srgbClr val="1AB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5367528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✅  Usos recomendados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76072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Priorizar campañas de retención  ·  Segmentar por riesgo  ·  Identificar causas operativas del churn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5349240"/>
            <a:ext cx="5486400" cy="36576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46520" y="5367528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❌  Usos NO recomendados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576072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Negar servicios  ·  Decisiones automatizadas sin revisión humana  ·  Compartir scores con terceros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3093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B7A8D"/>
                </a:solidFill>
                <a:latin typeface="Calibri"/>
              </a:rPr>
              <a:t>El modelo es apoyo a la decisión, no un sustituto del juicio humano.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DESAFÍOS Y SOLUCIONES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Los 4 problemas más críticos del proyecto — y cómo se resolvieron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5577840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🔍  DATA LEAKAGE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737360"/>
            <a:ext cx="2651760" cy="1508760"/>
          </a:xfrm>
          <a:prstGeom prst="rect">
            <a:avLst/>
          </a:prstGeom>
          <a:solidFill>
            <a:srgbClr val="FD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7830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74C3C"/>
                </a:solidFill>
                <a:latin typeface="Calibri"/>
              </a:rPr>
              <a:t>❌ Problema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0312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lead_min calculado con
fechas de entrega futuras
→ importancia inflada al 20%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17520" y="1737360"/>
            <a:ext cx="1828800" cy="1508760"/>
          </a:xfrm>
          <a:prstGeom prst="rect">
            <a:avLst/>
          </a:prstGeom>
          <a:solidFill>
            <a:srgbClr val="E8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108960" y="17830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B374"/>
                </a:solidFill>
                <a:latin typeface="Calibri"/>
              </a:rPr>
              <a:t>✅ Solución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103120"/>
            <a:ext cx="1691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Filtrar órdenes por corte
temporal T antes de calcular
cualquier feature logística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6320" y="1737360"/>
            <a:ext cx="1097280" cy="1508760"/>
          </a:xfrm>
          <a:prstGeom prst="rect">
            <a:avLst/>
          </a:prstGeom>
          <a:solidFill>
            <a:srgbClr val="1AB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46320" y="2011680"/>
            <a:ext cx="1097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20% → 7%
importancia real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1280160"/>
            <a:ext cx="5577840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46520" y="132588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🔄  MODELO INESTABLE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1737360"/>
            <a:ext cx="2651760" cy="1508760"/>
          </a:xfrm>
          <a:prstGeom prst="rect">
            <a:avLst/>
          </a:prstGeom>
          <a:solidFill>
            <a:srgbClr val="FD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0" y="17830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74C3C"/>
                </a:solidFill>
                <a:latin typeface="Calibri"/>
              </a:rPr>
              <a:t>❌ Problema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10312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HGB ganaba en Val (70%)
pero caía fuerte en Live (55%)
→ −15 puntos de degradación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61120" y="1737360"/>
            <a:ext cx="1828800" cy="1508760"/>
          </a:xfrm>
          <a:prstGeom prst="rect">
            <a:avLst/>
          </a:prstGeom>
          <a:solidFill>
            <a:srgbClr val="E8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052560" y="17830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B374"/>
                </a:solidFill>
                <a:latin typeface="Calibri"/>
              </a:rPr>
              <a:t>✅ Solución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2103120"/>
            <a:ext cx="1691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Cambiar criterio: de "mayor
AUC Val" a "mayor estabilidad
temporal Val→BT→Live"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789920" y="1737360"/>
            <a:ext cx="1097280" cy="1508760"/>
          </a:xfrm>
          <a:prstGeom prst="rect">
            <a:avLst/>
          </a:prstGeom>
          <a:solidFill>
            <a:srgbClr val="1AB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789920" y="2011680"/>
            <a:ext cx="1097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LogReg: 60%→63%
estabilidad creciente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886200"/>
            <a:ext cx="5577840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2920" y="393192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📊  GAIN/LIFT ROTO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343400"/>
            <a:ext cx="2651760" cy="1508760"/>
          </a:xfrm>
          <a:prstGeom prst="rect">
            <a:avLst/>
          </a:prstGeom>
          <a:solidFill>
            <a:srgbClr val="FD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43891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74C3C"/>
                </a:solidFill>
                <a:latin typeface="Calibri"/>
              </a:rPr>
              <a:t>❌ Problema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70916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Lift = 1.0 en todos los
deciles — el modelo no
discriminaba nada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17520" y="4343400"/>
            <a:ext cx="1828800" cy="1508760"/>
          </a:xfrm>
          <a:prstGeom prst="rect">
            <a:avLst/>
          </a:prstGeom>
          <a:solidFill>
            <a:srgbClr val="E8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108960" y="43891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B374"/>
                </a:solidFill>
                <a:latin typeface="Calibri"/>
              </a:rPr>
              <a:t>✅ Solución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08960" y="4709160"/>
            <a:ext cx="1691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Invertir la clase objetivo:
churn=0 es la minoría (1.2%)
no churn=1 (mayoría 98.8%)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46320" y="4343400"/>
            <a:ext cx="1097280" cy="1508760"/>
          </a:xfrm>
          <a:prstGeom prst="rect">
            <a:avLst/>
          </a:prstGeom>
          <a:solidFill>
            <a:srgbClr val="1AB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846320" y="4617720"/>
            <a:ext cx="1097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Lift 1.0 → 2.24x
en Decil 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60" y="3886200"/>
            <a:ext cx="5577840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46520" y="393192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🧠  SHAP FALLABA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09360" y="4343400"/>
            <a:ext cx="2651760" cy="1508760"/>
          </a:xfrm>
          <a:prstGeom prst="rect">
            <a:avLst/>
          </a:prstGeom>
          <a:solidFill>
            <a:srgbClr val="FD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00800" y="43891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74C3C"/>
                </a:solidFill>
                <a:latin typeface="Calibri"/>
              </a:rPr>
              <a:t>❌ Problema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470916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TreeExplainer lanzaba error
al cambiar a LogReg
→ incompatible con árboles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961120" y="4343400"/>
            <a:ext cx="1828800" cy="1508760"/>
          </a:xfrm>
          <a:prstGeom prst="rect">
            <a:avLst/>
          </a:prstGeom>
          <a:solidFill>
            <a:srgbClr val="E8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052560" y="43891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B374"/>
                </a:solidFill>
                <a:latin typeface="Calibri"/>
              </a:rPr>
              <a:t>✅ Solución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52560" y="4709160"/>
            <a:ext cx="1691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Reemplazar por LinearExplainer
nativo para regresión
logística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789920" y="4343400"/>
            <a:ext cx="1097280" cy="1508760"/>
          </a:xfrm>
          <a:prstGeom prst="rect">
            <a:avLst/>
          </a:prstGeom>
          <a:solidFill>
            <a:srgbClr val="1AB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0789920" y="4617720"/>
            <a:ext cx="1097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SHAP funcional
con LogReg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B7A8D"/>
                </a:solidFill>
                <a:latin typeface="Calibri"/>
              </a:rPr>
              <a:t>Documentación completa: bitacora_cambios.md — 12 problemas documentados con causa raíz y solución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B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731752" y="0"/>
            <a:ext cx="457200" cy="6858000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0" y="457200"/>
            <a:ext cx="57881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0" i="0">
                <a:solidFill>
                  <a:srgbClr val="FFFFFF"/>
                </a:solidFill>
                <a:latin typeface="Calibri"/>
              </a:rPr>
              <a:t>🖥️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1274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DEMO EN VIVO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33756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18F01"/>
                </a:solidFill>
                <a:latin typeface="Calibri"/>
              </a:rPr>
              <a:t>Dashboard Interactivo de Predicción de Churn</a:t>
            </a:r>
          </a:p>
        </p:txBody>
      </p:sp>
      <p:sp>
        <p:nvSpPr>
          <p:cNvPr id="8" name="Rectangle 7"/>
          <p:cNvSpPr/>
          <p:nvPr/>
        </p:nvSpPr>
        <p:spPr>
          <a:xfrm>
            <a:off x="1645920" y="4251960"/>
            <a:ext cx="2743200" cy="5029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645920" y="425196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Resumen Ejecutivo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4251960"/>
            <a:ext cx="2743200" cy="502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80" y="425196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Predicciones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0" y="4251960"/>
            <a:ext cx="2743200" cy="502920"/>
          </a:xfrm>
          <a:prstGeom prst="rect">
            <a:avLst/>
          </a:prstGeom>
          <a:solidFill>
            <a:srgbClr val="1AB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63840" y="425196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SHAP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45920" y="4937760"/>
            <a:ext cx="2743200" cy="5029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645920" y="493776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Gain &amp; Lift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0" y="4937760"/>
            <a:ext cx="2743200" cy="502920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54880" y="493776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Pred. Individual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63840" y="4937760"/>
            <a:ext cx="2743200" cy="502920"/>
          </a:xfrm>
          <a:prstGeom prst="rect">
            <a:avLst/>
          </a:prstGeom>
          <a:solidFill>
            <a:srgbClr val="1AB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863840" y="493776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Impacto Económico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5989320"/>
            <a:ext cx="7616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6B7A8D"/>
                </a:solidFill>
                <a:latin typeface="Calibri"/>
              </a:rPr>
              <a:t>streamlit run dashboard_churn.py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PRÓXIMOS PASOS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18F01"/>
                </a:solidFill>
                <a:latin typeface="Calibri"/>
              </a:rPr>
              <a:t>El modelo está listo para producción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577840" cy="201168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50876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536192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Reentrenamiento mensual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48840"/>
            <a:ext cx="521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Actualizar el modelo con datos del mes más reciente. Criterio: AUC cae más de 5 puntos o PSI &gt; 0.25.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371600"/>
            <a:ext cx="5577840" cy="2011680"/>
          </a:xfrm>
          <a:prstGeom prst="rect">
            <a:avLst/>
          </a:prstGeom>
          <a:solidFill>
            <a:srgbClr val="1AB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37960" y="150876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1536192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Monitoreo continuo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148840"/>
            <a:ext cx="521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Tracking del AUC en producción, distribución de features y tasa de churn observada vs predicha.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657600"/>
            <a:ext cx="5577840" cy="2011680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379476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822191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Integración con CRM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434840"/>
            <a:ext cx="521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Exportar la lista de clientes en riesgo directamente al sistema de campañas para acción automatizada.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3657600"/>
            <a:ext cx="5577840" cy="20116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37960" y="379476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3822191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Expansión del modelo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434840"/>
            <a:ext cx="521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Incorporar datos de NPS, interacciones con soporte y variables de categoría para mejorar el AUC.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852160"/>
            <a:ext cx="11274552" cy="6858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589788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B7A8D"/>
                </a:solidFill>
                <a:latin typeface="Calibri"/>
              </a:rPr>
              <a:t>Grupo 7  ·  Percy Fuentes  ·  Modelo de Churn Olist  ·  Sprint 4  ·  2024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252</TotalTime>
  <Words>1269</Words>
  <Application>Microsoft Office PowerPoint</Application>
  <PresentationFormat>Personalizado</PresentationFormat>
  <Paragraphs>228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>Percy</dc:creator>
  <cp:keywords/>
  <dc:description>generated using python-pptx</dc:description>
  <cp:lastModifiedBy>percy fuentes</cp:lastModifiedBy>
  <cp:revision>2</cp:revision>
  <dcterms:created xsi:type="dcterms:W3CDTF">2013-01-27T09:14:16Z</dcterms:created>
  <dcterms:modified xsi:type="dcterms:W3CDTF">2026-06-20T13:02:42Z</dcterms:modified>
  <cp:category/>
</cp:coreProperties>
</file>